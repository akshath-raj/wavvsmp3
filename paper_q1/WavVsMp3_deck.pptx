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74320"/>
          </a:xfrm>
          <a:prstGeom prst="roundRect">
            <a:avLst>
              <a:gd name="adj" fmla="val 0"/>
            </a:avLst>
          </a:prstGeom>
          <a:solidFill>
            <a:srgbClr val="0D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1481328"/>
            <a:ext cx="2011680" cy="27940"/>
          </a:xfrm>
          <a:prstGeom prst="rect">
            <a:avLst/>
          </a:prstGeom>
          <a:solidFill>
            <a:srgbClr val="C4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700784"/>
            <a:ext cx="10984687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4400" i="0">
                <a:solidFill>
                  <a:srgbClr val="0D1418"/>
                </a:solidFill>
                <a:latin typeface="Helvetica Neue"/>
              </a:rPr>
              <a:t>What the Model Learns</a:t>
            </a:r>
          </a:p>
          <a:p>
            <a:pPr>
              <a:lnSpc>
                <a:spcPct val="106000"/>
              </a:lnSpc>
            </a:pPr>
            <a:r>
              <a:rPr b="1" sz="4400" i="0">
                <a:solidFill>
                  <a:srgbClr val="0D1418"/>
                </a:solidFill>
                <a:latin typeface="Helvetica Neue"/>
              </a:rPr>
              <a:t>from Coded Audio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273552"/>
            <a:ext cx="878774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b="0" sz="1900" i="0">
                <a:solidFill>
                  <a:srgbClr val="5A6B74"/>
                </a:solidFill>
                <a:latin typeface="Helvetica Neue"/>
              </a:rPr>
              <a:t>Null-Calibrated Feature Attribution in Explainable Speech Emotion Recognition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4114800"/>
            <a:ext cx="10984687" cy="9525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4297680"/>
            <a:ext cx="549234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500" i="0">
                <a:solidFill>
                  <a:srgbClr val="0D1418"/>
                </a:solidFill>
                <a:latin typeface="Helvetica Neue"/>
              </a:rPr>
              <a:t>Akshath R</a:t>
            </a:r>
          </a:p>
          <a:p>
            <a:pPr>
              <a:spcBef>
                <a:spcPts val="300"/>
              </a:spcBef>
            </a:pPr>
            <a:r>
              <a:rPr b="0" sz="1200" i="0">
                <a:solidFill>
                  <a:srgbClr val="5A6B74"/>
                </a:solidFill>
                <a:latin typeface="Helvetica Neue"/>
              </a:rPr>
              <a:t>Independent researcher  ·  akshath.r333@gmail.com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175504"/>
            <a:ext cx="25632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700" i="0">
                <a:solidFill>
                  <a:srgbClr val="2E6F9E"/>
                </a:solidFill>
                <a:latin typeface="Helvetica Neue"/>
              </a:rPr>
              <a:t>7,442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5559552"/>
            <a:ext cx="25632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b="0" sz="1100" i="0">
                <a:solidFill>
                  <a:srgbClr val="5A6B74"/>
                </a:solidFill>
                <a:latin typeface="Helvetica Neue"/>
              </a:rPr>
              <a:t>CREMA-D clips</a:t>
            </a:r>
          </a:p>
          <a:p>
            <a:pPr>
              <a:lnSpc>
                <a:spcPct val="116000"/>
              </a:lnSpc>
            </a:pPr>
            <a:r>
              <a:rPr b="0" sz="1100" i="0">
                <a:solidFill>
                  <a:srgbClr val="5A6B74"/>
                </a:solidFill>
                <a:latin typeface="Helvetica Neue"/>
              </a:rPr>
              <a:t>91 actors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9675" y="5230368"/>
            <a:ext cx="7315" cy="787400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7963" y="5175504"/>
            <a:ext cx="25632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700" i="0">
                <a:solidFill>
                  <a:srgbClr val="C4462E"/>
                </a:solidFill>
                <a:latin typeface="Helvetica Neue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7963" y="5559552"/>
            <a:ext cx="25632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b="0" sz="1100" i="0">
                <a:solidFill>
                  <a:srgbClr val="5A6B74"/>
                </a:solidFill>
                <a:latin typeface="Helvetica Neue"/>
              </a:rPr>
              <a:t>coding conditions</a:t>
            </a:r>
          </a:p>
          <a:p>
            <a:pPr>
              <a:lnSpc>
                <a:spcPct val="116000"/>
              </a:lnSpc>
            </a:pPr>
            <a:r>
              <a:rPr b="0" sz="1100" i="0">
                <a:solidFill>
                  <a:srgbClr val="5A6B74"/>
                </a:solidFill>
                <a:latin typeface="Helvetica Neue"/>
              </a:rPr>
              <a:t>29,768 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5230368"/>
            <a:ext cx="7315" cy="787400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14135" y="5175504"/>
            <a:ext cx="25632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700" i="0">
                <a:solidFill>
                  <a:srgbClr val="2E6F9E"/>
                </a:solidFill>
                <a:latin typeface="Helvetica Neue"/>
              </a:rPr>
              <a:t>436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4135" y="5559552"/>
            <a:ext cx="25632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b="0" sz="1100" i="0">
                <a:solidFill>
                  <a:srgbClr val="5A6B74"/>
                </a:solidFill>
                <a:latin typeface="Helvetica Neue"/>
              </a:rPr>
              <a:t>named acoustic</a:t>
            </a:r>
          </a:p>
          <a:p>
            <a:pPr>
              <a:lnSpc>
                <a:spcPct val="116000"/>
              </a:lnSpc>
            </a:pPr>
            <a:r>
              <a:rPr b="0" sz="1100" i="0">
                <a:solidFill>
                  <a:srgbClr val="5A6B74"/>
                </a:solidFill>
                <a:latin typeface="Helvetica Neue"/>
              </a:rPr>
              <a:t>descriptors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42019" y="5230368"/>
            <a:ext cx="7315" cy="787400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0307" y="5175504"/>
            <a:ext cx="25632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700" i="0">
                <a:solidFill>
                  <a:srgbClr val="C4462E"/>
                </a:solidFill>
                <a:latin typeface="Helvetica Neue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0307" y="5559552"/>
            <a:ext cx="25632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b="0" sz="1100" i="0">
                <a:solidFill>
                  <a:srgbClr val="5A6B74"/>
                </a:solidFill>
                <a:latin typeface="Helvetica Neue"/>
              </a:rPr>
              <a:t>classifiers</a:t>
            </a:r>
          </a:p>
          <a:p>
            <a:pPr>
              <a:lnSpc>
                <a:spcPct val="116000"/>
              </a:lnSpc>
            </a:pPr>
            <a:r>
              <a:rPr b="0" sz="1100" i="0">
                <a:solidFill>
                  <a:srgbClr val="5A6B74"/>
                </a:solidFill>
                <a:latin typeface="Helvetica Neue"/>
              </a:rPr>
              <a:t>+ 10 XAI methods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0" y="6711696"/>
            <a:ext cx="12191695" cy="146304"/>
          </a:xfrm>
          <a:prstGeom prst="roundRect">
            <a:avLst>
              <a:gd name="adj" fmla="val 0"/>
            </a:avLst>
          </a:prstGeom>
          <a:solidFill>
            <a:srgbClr val="0D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spc="140">
                <a:solidFill>
                  <a:srgbClr val="5A6B74"/>
                </a:solidFill>
                <a:latin typeface="Helvetica Neue"/>
              </a:rPr>
              <a:t>INTRODUCTION  · 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94944"/>
            <a:ext cx="1098468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400" i="0">
                <a:solidFill>
                  <a:srgbClr val="0D1418"/>
                </a:solidFill>
                <a:latin typeface="Helvetica Neue"/>
              </a:rPr>
              <a:t>Models are validated on WAV and deployed on coded audio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88720"/>
            <a:ext cx="10984687" cy="9525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" y="1188720"/>
            <a:ext cx="1005840" cy="20320"/>
          </a:xfrm>
          <a:prstGeom prst="rect">
            <a:avLst/>
          </a:prstGeom>
          <a:solidFill>
            <a:srgbClr val="5A6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426464"/>
            <a:ext cx="6316195" cy="4791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1100"/>
              </a:spcBef>
              <a:spcAft>
                <a:spcPts val="0"/>
              </a:spcAft>
            </a:pPr>
            <a:r>
              <a:rPr sz="1044">
                <a:solidFill>
                  <a:srgbClr val="5A6B74"/>
                </a:solidFill>
                <a:latin typeface="Helvetica Neue"/>
              </a:rPr>
              <a:t>•  </a:t>
            </a:r>
            <a:r>
              <a:rPr b="0" sz="1450" i="0">
                <a:solidFill>
                  <a:srgbClr val="243238"/>
                </a:solidFill>
                <a:latin typeface="Helvetica Neue"/>
              </a:rPr>
              <a:t>Benchmarks ship as </a:t>
            </a:r>
            <a:r>
              <a:rPr b="1" sz="1450" i="0">
                <a:solidFill>
                  <a:srgbClr val="0D1418"/>
                </a:solidFill>
                <a:latin typeface="Helvetica Neue"/>
              </a:rPr>
              <a:t>uncompressed WAV</a:t>
            </a:r>
            <a:r>
              <a:rPr b="0" sz="1450" i="0">
                <a:solidFill>
                  <a:srgbClr val="243238"/>
                </a:solidFill>
                <a:latin typeface="Helvetica Neue"/>
              </a:rPr>
              <a:t> and are read straight from disk. Almost nothing reaches an inference endpoint that way.</a:t>
            </a:r>
          </a:p>
          <a:p>
            <a:pPr lvl="1">
              <a:lnSpc>
                <a:spcPct val="116000"/>
              </a:lnSpc>
              <a:spcBef>
                <a:spcPts val="1100"/>
              </a:spcBef>
              <a:spcAft>
                <a:spcPts val="0"/>
              </a:spcAft>
            </a:pPr>
            <a:r>
              <a:rPr sz="1247"/>
              <a:t>     </a:t>
            </a:r>
            <a:r>
              <a:rPr b="0" sz="1247" i="0">
                <a:solidFill>
                  <a:srgbClr val="5A6B74"/>
                </a:solidFill>
                <a:latin typeface="Helvetica Neue"/>
              </a:rPr>
              <a:t>Contact-centre archives hold MP3. Streaming clients negotiate AAC or Opus. Broadcast pipelines resample and requantise.</a:t>
            </a:r>
          </a:p>
          <a:p>
            <a:pPr>
              <a:lnSpc>
                <a:spcPct val="116000"/>
              </a:lnSpc>
              <a:spcBef>
                <a:spcPts val="1100"/>
              </a:spcBef>
              <a:spcAft>
                <a:spcPts val="0"/>
              </a:spcAft>
            </a:pPr>
            <a:r>
              <a:rPr sz="1044">
                <a:solidFill>
                  <a:srgbClr val="5A6B74"/>
                </a:solidFill>
                <a:latin typeface="Helvetica Neue"/>
              </a:rPr>
              <a:t>•  </a:t>
            </a:r>
            <a:r>
              <a:rPr b="0" sz="1450" i="0">
                <a:solidFill>
                  <a:srgbClr val="243238"/>
                </a:solidFill>
                <a:latin typeface="Helvetica Neue"/>
              </a:rPr>
              <a:t>The usual defence: every ingestion path decodes to linear PCM before features are extracted, so the delivery format looks like an implementation detail.</a:t>
            </a:r>
          </a:p>
          <a:p>
            <a:pPr>
              <a:lnSpc>
                <a:spcPct val="116000"/>
              </a:lnSpc>
              <a:spcBef>
                <a:spcPts val="1100"/>
              </a:spcBef>
              <a:spcAft>
                <a:spcPts val="0"/>
              </a:spcAft>
            </a:pPr>
            <a:r>
              <a:rPr sz="1044">
                <a:solidFill>
                  <a:srgbClr val="5A6B74"/>
                </a:solidFill>
                <a:latin typeface="Helvetica Neue"/>
              </a:rPr>
              <a:t>•  </a:t>
            </a:r>
            <a:r>
              <a:rPr b="0" sz="1450" i="0">
                <a:solidFill>
                  <a:srgbClr val="243238"/>
                </a:solidFill>
                <a:latin typeface="Helvetica Neue"/>
              </a:rPr>
              <a:t>Where that defence has been tested, it has been tested on </a:t>
            </a:r>
            <a:r>
              <a:rPr b="1" sz="1450" i="0">
                <a:solidFill>
                  <a:srgbClr val="0D1418"/>
                </a:solidFill>
                <a:latin typeface="Helvetica Neue"/>
              </a:rPr>
              <a:t>accuracy</a:t>
            </a:r>
            <a:r>
              <a:rPr b="0" sz="1450" i="0">
                <a:solidFill>
                  <a:srgbClr val="243238"/>
                </a:solidFill>
                <a:latin typeface="Helvetica Neue"/>
              </a:rPr>
              <a:t> — and accuracy is now only half of what a deployed affective system is required to report.</a:t>
            </a:r>
          </a:p>
          <a:p>
            <a:pPr lvl="1">
              <a:lnSpc>
                <a:spcPct val="116000"/>
              </a:lnSpc>
              <a:spcBef>
                <a:spcPts val="1100"/>
              </a:spcBef>
              <a:spcAft>
                <a:spcPts val="0"/>
              </a:spcAft>
            </a:pPr>
            <a:r>
              <a:rPr sz="1247"/>
              <a:t>     </a:t>
            </a:r>
            <a:r>
              <a:rPr b="0" sz="1247" i="0">
                <a:solidFill>
                  <a:srgbClr val="5A6B74"/>
                </a:solidFill>
                <a:latin typeface="Helvetica Neue"/>
              </a:rPr>
              <a:t>A clinician, an auditor or a QA analyst is shown an attribution over acoustic evidence. That second output has its own robustness properties, and they do not follow from the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59086" y="1389888"/>
            <a:ext cx="4229104" cy="3054096"/>
          </a:xfrm>
          <a:prstGeom prst="roundRect">
            <a:avLst>
              <a:gd name="adj" fmla="val 3500"/>
            </a:avLst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3406" y="1609344"/>
            <a:ext cx="3680464" cy="4608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b="0" sz="1000" i="0">
                <a:solidFill>
                  <a:srgbClr val="C4462E"/>
                </a:solidFill>
                <a:latin typeface="Helvetica Neue"/>
              </a:rPr>
              <a:t>THE QUESTION</a:t>
            </a:r>
          </a:p>
          <a:p>
            <a:pPr>
              <a:lnSpc>
                <a:spcPct val="118000"/>
              </a:lnSpc>
              <a:spcBef>
                <a:spcPts val="1200"/>
              </a:spcBef>
            </a:pPr>
            <a:r>
              <a:rPr b="0" sz="1700" i="0">
                <a:solidFill>
                  <a:srgbClr val="0D1418"/>
                </a:solidFill>
                <a:latin typeface="Helvetica Neue"/>
              </a:rPr>
              <a:t>Does perceptual coding change the </a:t>
            </a:r>
            <a:r>
              <a:rPr b="1" sz="1700" i="0">
                <a:solidFill>
                  <a:srgbClr val="0D1418"/>
                </a:solidFill>
                <a:latin typeface="Helvetica Neue"/>
              </a:rPr>
              <a:t>evidence</a:t>
            </a:r>
            <a:r>
              <a:rPr b="0" sz="1700" i="0">
                <a:solidFill>
                  <a:srgbClr val="0D1418"/>
                </a:solidFill>
                <a:latin typeface="Helvetica Neue"/>
              </a:rPr>
              <a:t> a speech-emotion model uses — not just how often it is right?</a:t>
            </a:r>
          </a:p>
          <a:p>
            <a:pPr>
              <a:lnSpc>
                <a:spcPct val="118000"/>
              </a:lnSpc>
              <a:spcBef>
                <a:spcPts val="1200"/>
              </a:spcBef>
            </a:pPr>
            <a:r>
              <a:rPr b="0" sz="1300" i="0">
                <a:solidFill>
                  <a:srgbClr val="5A6B74"/>
                </a:solidFill>
                <a:latin typeface="Helvetica Neue"/>
              </a:rPr>
              <a:t>Answered with models whose evidence is a </a:t>
            </a:r>
            <a:r>
              <a:rPr b="1" sz="1300" i="0">
                <a:solidFill>
                  <a:srgbClr val="5A6B74"/>
                </a:solidFill>
                <a:latin typeface="Helvetica Neue"/>
              </a:rPr>
              <a:t>named acoustic descriptor</a:t>
            </a:r>
            <a:r>
              <a:rPr b="0" sz="1300" i="0">
                <a:solidFill>
                  <a:srgbClr val="5A6B74"/>
                </a:solidFill>
                <a:latin typeface="Helvetica Neue"/>
              </a:rPr>
              <a:t> rather than a latent dimension, so every attribution has a phonetic reading by construction.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5598619"/>
            <a:ext cx="10984687" cy="619300"/>
          </a:xfrm>
          <a:prstGeom prst="roundRect">
            <a:avLst>
              <a:gd name="adj" fmla="val 3500"/>
            </a:avLst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" y="5598619"/>
            <a:ext cx="50292" cy="619300"/>
          </a:xfrm>
          <a:prstGeom prst="rect">
            <a:avLst/>
          </a:prstGeom>
          <a:solidFill>
            <a:srgbClr val="5A6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5598619"/>
            <a:ext cx="10481767" cy="619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0" sz="1350" i="0">
                <a:solidFill>
                  <a:srgbClr val="0D1418"/>
                </a:solidFill>
                <a:latin typeface="Helvetica Neue"/>
              </a:rPr>
              <a:t>Attribution fragility has been demonstrated under </a:t>
            </a:r>
            <a:r>
              <a:rPr b="1" sz="1350" i="0">
                <a:solidFill>
                  <a:srgbClr val="0D1418"/>
                </a:solidFill>
                <a:latin typeface="Helvetica Neue"/>
              </a:rPr>
              <a:t>adversarial</a:t>
            </a:r>
            <a:r>
              <a:rPr b="0" sz="1350" i="0">
                <a:solidFill>
                  <a:srgbClr val="0D1418"/>
                </a:solidFill>
                <a:latin typeface="Helvetica Neue"/>
              </a:rPr>
              <a:t> perturbation. A transcode is not adversarial. It is routine, it is everywhere, and it is almost never logged.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6236208"/>
            <a:ext cx="10984687" cy="6350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6382512"/>
            <a:ext cx="79089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900" i="0">
                <a:solidFill>
                  <a:srgbClr val="8C9BA2"/>
                </a:solidFill>
                <a:latin typeface="Helvetica Neue"/>
              </a:rPr>
              <a:t>Null-Calibrated Feature Attribution in Explainable SER  ·  CREMA-D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2478" y="6382512"/>
            <a:ext cx="30757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sz="900" i="0">
                <a:solidFill>
                  <a:srgbClr val="8C9BA2"/>
                </a:solidFill>
                <a:latin typeface="Helvetica Neue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spc="140">
                <a:solidFill>
                  <a:srgbClr val="5A6B74"/>
                </a:solidFill>
                <a:latin typeface="Helvetica Neue"/>
              </a:rPr>
              <a:t>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94944"/>
            <a:ext cx="1098468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400" i="0">
                <a:solidFill>
                  <a:srgbClr val="0D1418"/>
                </a:solidFill>
                <a:latin typeface="Helvetica Neue"/>
              </a:rPr>
              <a:t>What the literature establishes, and where it stops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88720"/>
            <a:ext cx="10984687" cy="9525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" y="1188720"/>
            <a:ext cx="1005840" cy="20320"/>
          </a:xfrm>
          <a:prstGeom prst="rect">
            <a:avLst/>
          </a:prstGeom>
          <a:solidFill>
            <a:srgbClr val="5A6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426464"/>
            <a:ext cx="3472586" cy="25400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572768"/>
            <a:ext cx="347258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450" i="0">
                <a:solidFill>
                  <a:srgbClr val="0D1418"/>
                </a:solidFill>
                <a:latin typeface="Helvetica Neue"/>
              </a:rPr>
              <a:t>Coding × speech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975104"/>
            <a:ext cx="3472586" cy="424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b="1" sz="1180" i="0">
                <a:solidFill>
                  <a:srgbClr val="0D1418"/>
                </a:solidFill>
                <a:latin typeface="Helvetica Neue"/>
              </a:rPr>
              <a:t>Reddy &amp; Vijayarajan (2020)</a:t>
            </a:r>
            <a:r>
              <a:rPr b="0" sz="1180" i="0">
                <a:solidFill>
                  <a:srgbClr val="243238"/>
                </a:solidFill>
                <a:latin typeface="Helvetica Neue"/>
              </a:rPr>
              <a:t> — codec effects on SER are real, modest, and depend on both codec family and front end. Coding interacts with the representation rather than degrading uniformly.</a:t>
            </a:r>
          </a:p>
          <a:p>
            <a:pPr>
              <a:lnSpc>
                <a:spcPct val="118000"/>
              </a:lnSpc>
              <a:spcBef>
                <a:spcPts val="1100"/>
              </a:spcBef>
            </a:pPr>
            <a:r>
              <a:rPr b="1" sz="1180" i="0">
                <a:solidFill>
                  <a:srgbClr val="0D1418"/>
                </a:solidFill>
                <a:latin typeface="Helvetica Neue"/>
              </a:rPr>
              <a:t>Wu et al. (2024), Codec-SUPERB</a:t>
            </a:r>
            <a:r>
              <a:rPr b="0" sz="1180" i="0">
                <a:solidFill>
                  <a:srgbClr val="243238"/>
                </a:solidFill>
                <a:latin typeface="Helvetica Neue"/>
              </a:rPr>
              <a:t> — signal-domain fidelity metrics </a:t>
            </a:r>
            <a:r>
              <a:rPr b="0" i="1" sz="1180">
                <a:solidFill>
                  <a:srgbClr val="243238"/>
                </a:solidFill>
                <a:latin typeface="Helvetica Neue"/>
              </a:rPr>
              <a:t>fail to predict</a:t>
            </a:r>
            <a:r>
              <a:rPr b="0" sz="1180" i="0">
                <a:solidFill>
                  <a:srgbClr val="243238"/>
                </a:solidFill>
                <a:latin typeface="Helvetica Neue"/>
              </a:rPr>
              <a:t> whether task-relevant information survives. A codec can score well on reconstruction and still discard paralinguistics.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9554" y="1426464"/>
            <a:ext cx="3472586" cy="25400"/>
          </a:xfrm>
          <a:prstGeom prst="rect">
            <a:avLst/>
          </a:prstGeom>
          <a:solidFill>
            <a:srgbClr val="C4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9554" y="1572768"/>
            <a:ext cx="347258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450" i="0">
                <a:solidFill>
                  <a:srgbClr val="0D1418"/>
                </a:solidFill>
                <a:latin typeface="Helvetica Neue"/>
              </a:rPr>
              <a:t>Attribution fragility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9554" y="1975104"/>
            <a:ext cx="3472586" cy="424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b="1" sz="1180" i="0">
                <a:solidFill>
                  <a:srgbClr val="0D1418"/>
                </a:solidFill>
                <a:latin typeface="Helvetica Neue"/>
              </a:rPr>
              <a:t>Ghorbani et al. (2019)</a:t>
            </a:r>
            <a:r>
              <a:rPr b="0" sz="1180" i="0">
                <a:solidFill>
                  <a:srgbClr val="243238"/>
                </a:solidFill>
                <a:latin typeface="Helvetica Neue"/>
              </a:rPr>
              <a:t> — perturbations below human perception, with identical predictions, still produce very different attributions.</a:t>
            </a:r>
          </a:p>
          <a:p>
            <a:pPr>
              <a:lnSpc>
                <a:spcPct val="118000"/>
              </a:lnSpc>
              <a:spcBef>
                <a:spcPts val="1100"/>
              </a:spcBef>
            </a:pPr>
            <a:r>
              <a:rPr b="1" sz="1180" i="0">
                <a:solidFill>
                  <a:srgbClr val="0D1418"/>
                </a:solidFill>
                <a:latin typeface="Helvetica Neue"/>
              </a:rPr>
              <a:t>Adebayo et al. (2018)</a:t>
            </a:r>
            <a:r>
              <a:rPr b="0" sz="1180" i="0">
                <a:solidFill>
                  <a:srgbClr val="243238"/>
                </a:solidFill>
                <a:latin typeface="Helvetica Neue"/>
              </a:rPr>
              <a:t> — some saliency methods are statistically independent of the model they claim to explain.</a:t>
            </a:r>
          </a:p>
          <a:p>
            <a:pPr>
              <a:lnSpc>
                <a:spcPct val="118000"/>
              </a:lnSpc>
              <a:spcBef>
                <a:spcPts val="1100"/>
              </a:spcBef>
            </a:pPr>
            <a:r>
              <a:rPr b="1" sz="1180" i="0">
                <a:solidFill>
                  <a:srgbClr val="0D1418"/>
                </a:solidFill>
                <a:latin typeface="Helvetica Neue"/>
              </a:rPr>
              <a:t>Krishna et al. (2022)</a:t>
            </a:r>
            <a:r>
              <a:rPr b="0" sz="1180" i="0">
                <a:solidFill>
                  <a:srgbClr val="243238"/>
                </a:solidFill>
                <a:latin typeface="Helvetica Neue"/>
              </a:rPr>
              <a:t> — methods disagree on the same fitted model, and practitioners resolve it on no principled basis.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15604" y="1426464"/>
            <a:ext cx="3472586" cy="2540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5604" y="1572768"/>
            <a:ext cx="347258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450" i="0">
                <a:solidFill>
                  <a:srgbClr val="0D1418"/>
                </a:solidFill>
                <a:latin typeface="Helvetica Neue"/>
              </a:rPr>
              <a:t>Interpretability for audio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5604" y="1975104"/>
            <a:ext cx="3472586" cy="424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b="1" sz="1180" i="0">
                <a:solidFill>
                  <a:srgbClr val="0D1418"/>
                </a:solidFill>
                <a:latin typeface="Helvetica Neue"/>
              </a:rPr>
              <a:t>Haunschmid et al. (2020)</a:t>
            </a:r>
            <a:r>
              <a:rPr b="0" sz="1180" i="0">
                <a:solidFill>
                  <a:srgbClr val="243238"/>
                </a:solidFill>
                <a:latin typeface="Helvetica Neue"/>
              </a:rPr>
              <a:t> — audio explanations must be </a:t>
            </a:r>
            <a:r>
              <a:rPr b="0" i="1" sz="1180">
                <a:solidFill>
                  <a:srgbClr val="243238"/>
                </a:solidFill>
                <a:latin typeface="Helvetica Neue"/>
              </a:rPr>
              <a:t>listenable</a:t>
            </a:r>
            <a:r>
              <a:rPr b="0" sz="1180" i="0">
                <a:solidFill>
                  <a:srgbClr val="243238"/>
                </a:solidFill>
                <a:latin typeface="Helvetica Neue"/>
              </a:rPr>
              <a:t>; image-segmentation logic on spectrograms yields components with no perceptual correlate. </a:t>
            </a:r>
            <a:r>
              <a:rPr b="1" sz="1180" i="0">
                <a:solidFill>
                  <a:srgbClr val="0D1418"/>
                </a:solidFill>
                <a:latin typeface="Helvetica Neue"/>
              </a:rPr>
              <a:t>Nasr et al. (2025)</a:t>
            </a:r>
            <a:r>
              <a:rPr b="0" sz="1180" i="0">
                <a:solidFill>
                  <a:srgbClr val="243238"/>
                </a:solidFill>
                <a:latin typeface="Helvetica Neue"/>
              </a:rPr>
              <a:t> extend the critique to speech emotion specifically.</a:t>
            </a:r>
          </a:p>
          <a:p>
            <a:pPr>
              <a:lnSpc>
                <a:spcPct val="118000"/>
              </a:lnSpc>
              <a:spcBef>
                <a:spcPts val="1100"/>
              </a:spcBef>
            </a:pPr>
            <a:r>
              <a:rPr b="1" sz="1180" i="0">
                <a:solidFill>
                  <a:srgbClr val="0D1418"/>
                </a:solidFill>
                <a:latin typeface="Helvetica Neue"/>
              </a:rPr>
              <a:t>Rudin (2019)</a:t>
            </a:r>
            <a:r>
              <a:rPr b="0" sz="1180" i="0">
                <a:solidFill>
                  <a:srgbClr val="243238"/>
                </a:solidFill>
                <a:latin typeface="Helvetica Neue"/>
              </a:rPr>
              <a:t> — in high-stakes settings, replace the post-hoc layer with an intrinsically interpretable model. Our leaderboard speaks to this directly, and does not support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5598619"/>
            <a:ext cx="10984687" cy="619300"/>
          </a:xfrm>
          <a:prstGeom prst="roundRect">
            <a:avLst>
              <a:gd name="adj" fmla="val 3500"/>
            </a:avLst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" y="5598619"/>
            <a:ext cx="50292" cy="619300"/>
          </a:xfrm>
          <a:prstGeom prst="rect">
            <a:avLst/>
          </a:prstGeom>
          <a:solidFill>
            <a:srgbClr val="5A6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5598619"/>
            <a:ext cx="10481767" cy="619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0" sz="1350" i="0">
                <a:solidFill>
                  <a:srgbClr val="0D1418"/>
                </a:solidFill>
                <a:latin typeface="Helvetica Neue"/>
              </a:rPr>
              <a:t>Coding is known to interact with the front end, and attribution is known to be fragile — but the two literatures have never been put in the same experiment.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" y="6236208"/>
            <a:ext cx="10984687" cy="6350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6382512"/>
            <a:ext cx="79089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900" i="0">
                <a:solidFill>
                  <a:srgbClr val="8C9BA2"/>
                </a:solidFill>
                <a:latin typeface="Helvetica Neue"/>
              </a:rPr>
              <a:t>Null-Calibrated Feature Attribution in Explainable SER  ·  CREMA-D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2478" y="6382512"/>
            <a:ext cx="30757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sz="900" i="0">
                <a:solidFill>
                  <a:srgbClr val="8C9BA2"/>
                </a:solidFill>
                <a:latin typeface="Helvetica Neue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spc="140">
                <a:solidFill>
                  <a:srgbClr val="5A6B74"/>
                </a:solidFill>
                <a:latin typeface="Helvetica Neue"/>
              </a:rP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94944"/>
            <a:ext cx="1098468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400" i="0">
                <a:solidFill>
                  <a:srgbClr val="0D1418"/>
                </a:solidFill>
                <a:latin typeface="Helvetica Neue"/>
              </a:rPr>
              <a:t>The gap, and what this paper contributes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88720"/>
            <a:ext cx="10984687" cy="9525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" y="1188720"/>
            <a:ext cx="1005840" cy="20320"/>
          </a:xfrm>
          <a:prstGeom prst="rect">
            <a:avLst/>
          </a:prstGeom>
          <a:solidFill>
            <a:srgbClr val="5A6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426464"/>
            <a:ext cx="439387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00" i="0" spc="120">
                <a:solidFill>
                  <a:srgbClr val="C4462E"/>
                </a:solidFill>
                <a:latin typeface="Helvetica Neue"/>
              </a:rPr>
              <a:t>WHERE THE GAP LIES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4393874" cy="4480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1100"/>
              </a:spcBef>
              <a:spcAft>
                <a:spcPts val="0"/>
              </a:spcAft>
            </a:pPr>
            <a:r>
              <a:rPr sz="971">
                <a:solidFill>
                  <a:srgbClr val="C4462E"/>
                </a:solidFill>
                <a:latin typeface="Helvetica Neue"/>
              </a:rPr>
              <a:t>•  </a:t>
            </a:r>
            <a:r>
              <a:rPr b="0" sz="1350" i="0">
                <a:solidFill>
                  <a:srgbClr val="243238"/>
                </a:solidFill>
                <a:latin typeface="Helvetica Neue"/>
              </a:rPr>
              <a:t>Coding effects are characterised for </a:t>
            </a:r>
            <a:r>
              <a:rPr b="1" sz="1350" i="0">
                <a:solidFill>
                  <a:srgbClr val="0D1418"/>
                </a:solidFill>
                <a:latin typeface="Helvetica Neue"/>
              </a:rPr>
              <a:t>accuracy</a:t>
            </a:r>
            <a:r>
              <a:rPr b="0" sz="1350" i="0">
                <a:solidFill>
                  <a:srgbClr val="243238"/>
                </a:solidFill>
                <a:latin typeface="Helvetica Neue"/>
              </a:rPr>
              <a:t>, and never for </a:t>
            </a:r>
            <a:r>
              <a:rPr b="1" sz="1350" i="0">
                <a:solidFill>
                  <a:srgbClr val="0D1418"/>
                </a:solidFill>
                <a:latin typeface="Helvetica Neue"/>
              </a:rPr>
              <a:t>evidence</a:t>
            </a:r>
            <a:r>
              <a:rPr b="0" sz="1350" i="0">
                <a:solidFill>
                  <a:srgbClr val="243238"/>
                </a:solidFill>
                <a:latin typeface="Helvetica Neue"/>
              </a:rPr>
              <a:t>.</a:t>
            </a:r>
          </a:p>
          <a:p>
            <a:pPr>
              <a:lnSpc>
                <a:spcPct val="116000"/>
              </a:lnSpc>
              <a:spcBef>
                <a:spcPts val="1100"/>
              </a:spcBef>
              <a:spcAft>
                <a:spcPts val="0"/>
              </a:spcAft>
            </a:pPr>
            <a:r>
              <a:rPr sz="971">
                <a:solidFill>
                  <a:srgbClr val="C4462E"/>
                </a:solidFill>
                <a:latin typeface="Helvetica Neue"/>
              </a:rPr>
              <a:t>•  </a:t>
            </a:r>
            <a:r>
              <a:rPr b="0" sz="1350" i="0">
                <a:solidFill>
                  <a:srgbClr val="243238"/>
                </a:solidFill>
                <a:latin typeface="Helvetica Neue"/>
              </a:rPr>
              <a:t>Attribution fragility is characterised for </a:t>
            </a:r>
            <a:r>
              <a:rPr b="1" sz="1350" i="0">
                <a:solidFill>
                  <a:srgbClr val="0D1418"/>
                </a:solidFill>
                <a:latin typeface="Helvetica Neue"/>
              </a:rPr>
              <a:t>vision</a:t>
            </a:r>
            <a:r>
              <a:rPr b="0" sz="1350" i="0">
                <a:solidFill>
                  <a:srgbClr val="243238"/>
                </a:solidFill>
                <a:latin typeface="Helvetica Neue"/>
              </a:rPr>
              <a:t> under </a:t>
            </a:r>
            <a:r>
              <a:rPr b="1" sz="1350" i="0">
                <a:solidFill>
                  <a:srgbClr val="0D1418"/>
                </a:solidFill>
                <a:latin typeface="Helvetica Neue"/>
              </a:rPr>
              <a:t>adversarial</a:t>
            </a:r>
            <a:r>
              <a:rPr b="0" sz="1350" i="0">
                <a:solidFill>
                  <a:srgbClr val="243238"/>
                </a:solidFill>
                <a:latin typeface="Helvetica Neue"/>
              </a:rPr>
              <a:t> perturbation, and not for </a:t>
            </a:r>
            <a:r>
              <a:rPr b="1" sz="1350" i="0">
                <a:solidFill>
                  <a:srgbClr val="0D1418"/>
                </a:solidFill>
                <a:latin typeface="Helvetica Neue"/>
              </a:rPr>
              <a:t>audio</a:t>
            </a:r>
            <a:r>
              <a:rPr b="0" sz="1350" i="0">
                <a:solidFill>
                  <a:srgbClr val="243238"/>
                </a:solidFill>
                <a:latin typeface="Helvetica Neue"/>
              </a:rPr>
              <a:t> under the routine degradation that actually occurs.</a:t>
            </a:r>
          </a:p>
          <a:p>
            <a:pPr>
              <a:lnSpc>
                <a:spcPct val="116000"/>
              </a:lnSpc>
              <a:spcBef>
                <a:spcPts val="1100"/>
              </a:spcBef>
              <a:spcAft>
                <a:spcPts val="0"/>
              </a:spcAft>
            </a:pPr>
            <a:r>
              <a:rPr sz="971">
                <a:solidFill>
                  <a:srgbClr val="C4462E"/>
                </a:solidFill>
                <a:latin typeface="Helvetica Neue"/>
              </a:rPr>
              <a:t>•  </a:t>
            </a:r>
            <a:r>
              <a:rPr b="0" sz="1350" i="0">
                <a:solidFill>
                  <a:srgbClr val="243238"/>
                </a:solidFill>
                <a:latin typeface="Helvetica Neue"/>
              </a:rPr>
              <a:t>No prior work isolates the </a:t>
            </a:r>
            <a:r>
              <a:rPr b="1" sz="1350" i="0">
                <a:solidFill>
                  <a:srgbClr val="0D1418"/>
                </a:solidFill>
                <a:latin typeface="Helvetica Neue"/>
              </a:rPr>
              <a:t>container</a:t>
            </a:r>
            <a:r>
              <a:rPr b="0" sz="1350" i="0">
                <a:solidFill>
                  <a:srgbClr val="243238"/>
                </a:solidFill>
                <a:latin typeface="Helvetica Neue"/>
              </a:rPr>
              <a:t> under a verified constraint of signal invariance, and none calibrates an importance shift against a </a:t>
            </a:r>
            <a:r>
              <a:rPr b="1" sz="1350" i="0">
                <a:solidFill>
                  <a:srgbClr val="0D1418"/>
                </a:solidFill>
                <a:latin typeface="Helvetica Neue"/>
              </a:rPr>
              <a:t>matched empty perturbation</a:t>
            </a:r>
            <a:r>
              <a:rPr b="0" sz="1350" i="0">
                <a:solidFill>
                  <a:srgbClr val="243238"/>
                </a:solidFill>
                <a:latin typeface="Helvetica Neue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1536" y="1426464"/>
            <a:ext cx="598665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00" i="0" spc="120">
                <a:solidFill>
                  <a:srgbClr val="2E6F9E"/>
                </a:solidFill>
                <a:latin typeface="Helvetica Neue"/>
              </a:rPr>
              <a:t>CONTRIBUTIONS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1536" y="1719072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300" i="0">
                <a:solidFill>
                  <a:srgbClr val="2E6F9E"/>
                </a:solidFill>
                <a:latin typeface="Helvetica Ne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7568" y="1705356"/>
            <a:ext cx="573062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1" sz="1250" i="0">
                <a:solidFill>
                  <a:srgbClr val="0D1418"/>
                </a:solidFill>
                <a:latin typeface="Helvetica Neue"/>
              </a:rPr>
              <a:t>A matched-format decomposition of the codec effect.  </a:t>
            </a:r>
            <a:r>
              <a:rPr b="0" sz="1150" i="0">
                <a:solidFill>
                  <a:srgbClr val="5A6B74"/>
                </a:solidFill>
                <a:latin typeface="Helvetica Neue"/>
              </a:rPr>
              <a:t>38.6 points of loss recovered by training in the served condition — the codec does not remove the affective information.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1536" y="2468880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300" i="0">
                <a:solidFill>
                  <a:srgbClr val="2E6F9E"/>
                </a:solidFill>
                <a:latin typeface="Helvetica Neu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7568" y="2455164"/>
            <a:ext cx="573062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1" sz="1250" i="0">
                <a:solidFill>
                  <a:srgbClr val="0D1418"/>
                </a:solidFill>
                <a:latin typeface="Helvetica Neue"/>
              </a:rPr>
              <a:t>Tree structure as a readable attribution.  </a:t>
            </a:r>
            <a:r>
              <a:rPr b="0" sz="1150" i="0">
                <a:solidFill>
                  <a:srgbClr val="5A6B74"/>
                </a:solidFill>
                <a:latin typeface="Helvetica Neue"/>
              </a:rPr>
              <a:t>Which named test the codec changes, at which threshold, and how far the agreement reaches; entropy at every node separates structural from informational agreement.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1536" y="3218688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300" i="0">
                <a:solidFill>
                  <a:srgbClr val="2E6F9E"/>
                </a:solidFill>
                <a:latin typeface="Helvetica Ne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7568" y="3204972"/>
            <a:ext cx="573062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1" sz="1250" i="0">
                <a:solidFill>
                  <a:srgbClr val="0D1418"/>
                </a:solidFill>
                <a:latin typeface="Helvetica Neue"/>
              </a:rPr>
              <a:t>Null calibration for feature-importance shift.  </a:t>
            </a:r>
            <a:r>
              <a:rPr b="0" sz="1150" i="0">
                <a:solidFill>
                  <a:srgbClr val="5A6B74"/>
                </a:solidFill>
                <a:latin typeface="Helvetica Neue"/>
              </a:rPr>
              <a:t>Three floors — tie-breaking, actor resampling, and an informationally empty container re-wrap — under a paired within-draw design.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1536" y="396849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300" i="0">
                <a:solidFill>
                  <a:srgbClr val="2E6F9E"/>
                </a:solidFill>
                <a:latin typeface="Helvetica Ne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7568" y="3954780"/>
            <a:ext cx="573062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1" sz="1250" i="0">
                <a:solidFill>
                  <a:srgbClr val="0D1418"/>
                </a:solidFill>
                <a:latin typeface="Helvetica Neue"/>
              </a:rPr>
              <a:t>A repair that is diagnosable and cheap.  </a:t>
            </a:r>
            <a:r>
              <a:rPr b="0" sz="1150" i="0">
                <a:solidFill>
                  <a:srgbClr val="5A6B74"/>
                </a:solidFill>
                <a:latin typeface="Helvetica Neue"/>
              </a:rPr>
              <a:t>One named descriptor recovers 98 % of a kernel machine's loss, at no cost on clean audio.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1536" y="4718304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300" i="0">
                <a:solidFill>
                  <a:srgbClr val="2E6F9E"/>
                </a:solidFill>
                <a:latin typeface="Helvetica Neue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7568" y="4704588"/>
            <a:ext cx="573062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1" sz="1250" i="0">
                <a:solidFill>
                  <a:srgbClr val="0D1418"/>
                </a:solidFill>
                <a:latin typeface="Helvetica Neue"/>
              </a:rPr>
              <a:t>A class-level reading of the mismatch failure.  </a:t>
            </a:r>
            <a:r>
              <a:rPr b="0" sz="1150" i="0">
                <a:solidFill>
                  <a:srgbClr val="5A6B74"/>
                </a:solidFill>
                <a:latin typeface="Helvetica Neue"/>
              </a:rPr>
              <a:t>The mismatched network abandons half the label space — arithmetically invisible to balanced accuracy.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1536" y="5468112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300" i="0">
                <a:solidFill>
                  <a:srgbClr val="2E6F9E"/>
                </a:solidFill>
                <a:latin typeface="Helvetica Neue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7568" y="5454396"/>
            <a:ext cx="573062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1" sz="1250" i="0">
                <a:solidFill>
                  <a:srgbClr val="0D1418"/>
                </a:solidFill>
                <a:latin typeface="Helvetica Neue"/>
              </a:rPr>
              <a:t>Two negative results reported rather than smoothed over.  </a:t>
            </a:r>
            <a:r>
              <a:rPr b="0" sz="1150" i="0">
                <a:solidFill>
                  <a:srgbClr val="5A6B74"/>
                </a:solidFill>
                <a:latin typeface="Helvetica Neue"/>
              </a:rPr>
              <a:t>XAI methods disagree on one fitted model; a global ranking can look stable while the classifier has stopped working.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" y="6236208"/>
            <a:ext cx="10984687" cy="6350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6382512"/>
            <a:ext cx="79089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900" i="0">
                <a:solidFill>
                  <a:srgbClr val="8C9BA2"/>
                </a:solidFill>
                <a:latin typeface="Helvetica Neue"/>
              </a:rPr>
              <a:t>Null-Calibrated Feature Attribution in Explainable SER  ·  CREMA-D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2478" y="6382512"/>
            <a:ext cx="30757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sz="900" i="0">
                <a:solidFill>
                  <a:srgbClr val="8C9BA2"/>
                </a:solidFill>
                <a:latin typeface="Helvetica Neue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spc="140">
                <a:solidFill>
                  <a:srgbClr val="2E6F9E"/>
                </a:solidFill>
                <a:latin typeface="Helvetica Neue"/>
              </a:rPr>
              <a:t>DATASET AND EXPERIMENTAL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94944"/>
            <a:ext cx="1098468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400" i="0">
                <a:solidFill>
                  <a:srgbClr val="0D1418"/>
                </a:solidFill>
                <a:latin typeface="Helvetica Neue"/>
              </a:rPr>
              <a:t>CREMA-D, rendered in four coding 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88720"/>
            <a:ext cx="10984687" cy="9525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" y="1188720"/>
            <a:ext cx="1005840" cy="20320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426464"/>
            <a:ext cx="483326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00" i="0" spc="120">
                <a:solidFill>
                  <a:srgbClr val="2E6F9E"/>
                </a:solidFill>
                <a:latin typeface="Helvetica Neue"/>
              </a:rPr>
              <a:t>THE CORPUS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700784"/>
          <a:ext cx="4833261" cy="16230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9978"/>
                <a:gridCol w="3383283"/>
              </a:tblGrid>
              <a:tr h="548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Clips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7,442  (7,441 usable)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Actors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91  —  48 male, 43 female, ages 20–74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Sentences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12 fixed, identical across emotions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Emotions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6  —  ANG  DIS  FEA  HAP  NEU  SAD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Clip length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2.54 s ± 0.51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Split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speaker-independent, 60 / 11 / 20 actors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4,905 / 896 / 1,640 clips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3504" y="3383280"/>
            <a:ext cx="4833262" cy="2834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849">
                <a:solidFill>
                  <a:srgbClr val="2E6F9E"/>
                </a:solidFill>
                <a:latin typeface="Helvetica Neue"/>
              </a:rPr>
              <a:t>•  </a:t>
            </a:r>
            <a:r>
              <a:rPr b="0" sz="1180" i="0">
                <a:solidFill>
                  <a:srgbClr val="243238"/>
                </a:solidFill>
                <a:latin typeface="Helvetica Neue"/>
              </a:rPr>
              <a:t>Holding the </a:t>
            </a:r>
            <a:r>
              <a:rPr b="1" sz="1180" i="0">
                <a:solidFill>
                  <a:srgbClr val="0D1418"/>
                </a:solidFill>
                <a:latin typeface="Helvetica Neue"/>
              </a:rPr>
              <a:t>words constant</a:t>
            </a:r>
            <a:r>
              <a:rPr b="0" sz="1180" i="0">
                <a:solidFill>
                  <a:srgbClr val="243238"/>
                </a:solidFill>
                <a:latin typeface="Helvetica Neue"/>
              </a:rPr>
              <a:t> removes the lexical channel. Any signal a model recovers is carried by acoustic realisation — which is exactly what perceptual coding operates on.</a:t>
            </a:r>
          </a:p>
          <a:p>
            <a:pPr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849">
                <a:solidFill>
                  <a:srgbClr val="2E6F9E"/>
                </a:solidFill>
                <a:latin typeface="Helvetica Neue"/>
              </a:rPr>
              <a:t>•  </a:t>
            </a:r>
            <a:r>
              <a:rPr b="0" sz="1180" i="0">
                <a:solidFill>
                  <a:srgbClr val="243238"/>
                </a:solidFill>
                <a:latin typeface="Helvetica Neue"/>
              </a:rPr>
              <a:t>Human voice-only ceiling is </a:t>
            </a:r>
            <a:r>
              <a:rPr b="1" sz="1180" i="0">
                <a:solidFill>
                  <a:srgbClr val="0D1418"/>
                </a:solidFill>
                <a:latin typeface="Helvetica Neue"/>
              </a:rPr>
              <a:t>45.5 %</a:t>
            </a:r>
            <a:r>
              <a:rPr b="0" sz="1180" i="0">
                <a:solidFill>
                  <a:srgbClr val="243238"/>
                </a:solidFill>
                <a:latin typeface="Helvetica Neue"/>
              </a:rPr>
              <a:t> (NEU recall 0.966, SAD 0.164) — context for the absolute accuracies, not a target.</a:t>
            </a:r>
          </a:p>
          <a:p>
            <a:pPr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849">
                <a:solidFill>
                  <a:srgbClr val="2E6F9E"/>
                </a:solidFill>
                <a:latin typeface="Helvetica Neue"/>
              </a:rPr>
              <a:t>•  </a:t>
            </a:r>
            <a:r>
              <a:rPr b="0" sz="1180" i="0">
                <a:solidFill>
                  <a:srgbClr val="243238"/>
                </a:solidFill>
                <a:latin typeface="Helvetica Neue"/>
              </a:rPr>
              <a:t>Speaker η² = 0.178 against emotion η² = 0.098, and </a:t>
            </a:r>
            <a:r>
              <a:rPr b="1" sz="1180" i="0">
                <a:solidFill>
                  <a:srgbClr val="0D1418"/>
                </a:solidFill>
                <a:latin typeface="Helvetica Neue"/>
              </a:rPr>
              <a:t>340 of 436</a:t>
            </a:r>
            <a:r>
              <a:rPr b="0" sz="1180" i="0">
                <a:solidFill>
                  <a:srgbClr val="243238"/>
                </a:solidFill>
                <a:latin typeface="Helvetica Neue"/>
              </a:rPr>
              <a:t> descriptors are speaker-dominant. Speaker-independent splitting is load-bearing here, not a refinement.</a:t>
            </a:r>
          </a:p>
          <a:p>
            <a:pPr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849">
                <a:solidFill>
                  <a:srgbClr val="2E6F9E"/>
                </a:solidFill>
                <a:latin typeface="Helvetica Neue"/>
              </a:rPr>
              <a:t>•  </a:t>
            </a:r>
            <a:r>
              <a:rPr b="0" sz="1180" i="0">
                <a:solidFill>
                  <a:srgbClr val="243238"/>
                </a:solidFill>
                <a:latin typeface="Helvetica Neue"/>
              </a:rPr>
              <a:t>Extraction failed on exactly one clip, </a:t>
            </a:r>
            <a:r>
              <a:rPr sz="1062" b="0" i="0">
                <a:solidFill>
                  <a:srgbClr val="243238"/>
                </a:solidFill>
                <a:latin typeface="Menlo"/>
              </a:rPr>
              <a:t>1076_MTI_SAD_XX</a:t>
            </a:r>
            <a:r>
              <a:rPr b="0" sz="1180" i="0">
                <a:solidFill>
                  <a:srgbClr val="243238"/>
                </a:solidFill>
                <a:latin typeface="Helvetica Neue"/>
              </a:rPr>
              <a:t> — the one the corpus documents as containing no audio.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1077" y="1426464"/>
            <a:ext cx="565711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00" i="0" spc="120">
                <a:solidFill>
                  <a:srgbClr val="2E6F9E"/>
                </a:solidFill>
                <a:latin typeface="Helvetica Neue"/>
              </a:rPr>
              <a:t>THE FOUR CONDITIONS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31077" y="1700784"/>
            <a:ext cx="5657113" cy="4517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b="0" sz="1150" i="0">
                <a:solidFill>
                  <a:srgbClr val="5A6B74"/>
                </a:solidFill>
                <a:latin typeface="Helvetica Neue"/>
              </a:rPr>
              <a:t>Canonical reference: 16 kHz mono 16-bit PCM, loudness-normalised to EBU R128 (I = −23 LUFS, LRA 7, TP −2 dB). One encoder invocation per condition; one identical FFmpeg call decodes them all, so the decoder never confounds the codec.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31077" y="2454390"/>
          <a:ext cx="5657111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7420"/>
                <a:gridCol w="2489129"/>
                <a:gridCol w="1640562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Condition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What it is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What it varies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ref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uncompressed WAV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the reference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mp3_64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MP3 @ 64 kbit/s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codec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mp4_aac64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MP4/AAC @ 64 kbit/s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codec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roundtrip_wav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AAC bitstream re-wrapped as WAV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container only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931077" y="3862566"/>
            <a:ext cx="5657113" cy="1700784"/>
          </a:xfrm>
          <a:prstGeom prst="roundRect">
            <a:avLst>
              <a:gd name="adj" fmla="val 3500"/>
            </a:avLst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31077" y="3862566"/>
            <a:ext cx="50292" cy="1700784"/>
          </a:xfrm>
          <a:prstGeom prst="rect">
            <a:avLst/>
          </a:prstGeom>
          <a:solidFill>
            <a:srgbClr val="C4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7109" y="4008870"/>
            <a:ext cx="5181625" cy="22090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25" b="0" i="0">
                <a:solidFill>
                  <a:srgbClr val="0D1418"/>
                </a:solidFill>
                <a:latin typeface="Menlo"/>
              </a:rPr>
              <a:t>roundtrip_wav</a:t>
            </a:r>
            <a:r>
              <a:rPr b="0" sz="1250" i="0">
                <a:solidFill>
                  <a:srgbClr val="0D1418"/>
                </a:solidFill>
                <a:latin typeface="Helvetica Neue"/>
              </a:rPr>
              <a:t> is the device that makes the study identifiable.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b="0" sz="1150" i="0">
                <a:solidFill>
                  <a:srgbClr val="243238"/>
                </a:solidFill>
                <a:latin typeface="Helvetica Neue"/>
              </a:rPr>
              <a:t>It carries the </a:t>
            </a:r>
            <a:r>
              <a:rPr b="1" sz="1150" i="0">
                <a:solidFill>
                  <a:srgbClr val="0D1418"/>
                </a:solidFill>
                <a:latin typeface="Helvetica Neue"/>
              </a:rPr>
              <a:t>same codec output</a:t>
            </a:r>
            <a:r>
              <a:rPr b="0" sz="1150" i="0">
                <a:solidFill>
                  <a:srgbClr val="243238"/>
                </a:solidFill>
                <a:latin typeface="Helvetica Neue"/>
              </a:rPr>
              <a:t> through a different container, so it changes the decode path and no coding information at all. Median standardised feature difference </a:t>
            </a:r>
            <a:r>
              <a:rPr b="1" sz="1150" i="0">
                <a:solidFill>
                  <a:srgbClr val="0D1418"/>
                </a:solidFill>
                <a:latin typeface="Helvetica Neue"/>
              </a:rPr>
              <a:t>|SMD| = 7.6 × 10⁻⁵</a:t>
            </a:r>
            <a:r>
              <a:rPr b="0" sz="1150" i="0">
                <a:solidFill>
                  <a:srgbClr val="243238"/>
                </a:solidFill>
                <a:latin typeface="Helvetica Neue"/>
              </a:rPr>
              <a:t>; only 12 of 436 descriptors exceed 0.05. That is the noise floor of this study, and it is used as an </a:t>
            </a:r>
            <a:r>
              <a:rPr b="1" sz="1150" i="0">
                <a:solidFill>
                  <a:srgbClr val="0D1418"/>
                </a:solidFill>
                <a:latin typeface="Helvetica Neue"/>
              </a:rPr>
              <a:t>informationally empty perturbation</a:t>
            </a:r>
            <a:r>
              <a:rPr b="0" sz="1150" i="0">
                <a:solidFill>
                  <a:srgbClr val="243238"/>
                </a:solidFill>
                <a:latin typeface="Helvetica Neue"/>
              </a:rPr>
              <a:t> rather than merely reported as small.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" y="6236208"/>
            <a:ext cx="10984687" cy="6350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6382512"/>
            <a:ext cx="79089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900" i="0">
                <a:solidFill>
                  <a:srgbClr val="8C9BA2"/>
                </a:solidFill>
                <a:latin typeface="Helvetica Neue"/>
              </a:rPr>
              <a:t>Null-Calibrated Feature Attribution in Explainable SER  ·  CREMA-D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2478" y="6382512"/>
            <a:ext cx="30757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sz="900" i="0">
                <a:solidFill>
                  <a:srgbClr val="8C9BA2"/>
                </a:solidFill>
                <a:latin typeface="Helvetica Neue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spc="140">
                <a:solidFill>
                  <a:srgbClr val="2E6F9E"/>
                </a:solidFill>
                <a:latin typeface="Helvetica Neue"/>
              </a:rPr>
              <a:t>METHODOLOGY  · 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94944"/>
            <a:ext cx="1098468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400" i="0">
                <a:solidFill>
                  <a:srgbClr val="0D1418"/>
                </a:solidFill>
                <a:latin typeface="Helvetica Neue"/>
              </a:rPr>
              <a:t>436 named acoustic descriptors, not learned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88720"/>
            <a:ext cx="10984687" cy="9525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" y="1188720"/>
            <a:ext cx="1005840" cy="20320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" y="1426464"/>
          <a:ext cx="6426041" cy="25420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5208"/>
                <a:gridCol w="514083"/>
                <a:gridCol w="462675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Family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n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Contents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30" i="0">
                          <a:solidFill>
                            <a:srgbClr val="243238"/>
                          </a:solidFill>
                          <a:latin typeface="Helvetica Neue"/>
                        </a:rPr>
                        <a:t>Cepstral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30" i="0">
                          <a:solidFill>
                            <a:srgbClr val="243238"/>
                          </a:solidFill>
                          <a:latin typeface="Helvetica Neue"/>
                        </a:rPr>
                        <a:t>240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30" i="0">
                          <a:solidFill>
                            <a:srgbClr val="243238"/>
                          </a:solidFill>
                          <a:latin typeface="Helvetica Neue"/>
                        </a:rPr>
                        <a:t>20 MFCCs with their Δ and ΔΔ temporal derivatives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30" i="0">
                          <a:solidFill>
                            <a:srgbClr val="243238"/>
                          </a:solidFill>
                          <a:latin typeface="Helvetica Neue"/>
                        </a:rPr>
                        <a:t>Spectral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30" i="0">
                          <a:solidFill>
                            <a:srgbClr val="243238"/>
                          </a:solidFill>
                          <a:latin typeface="Helvetica Neue"/>
                        </a:rPr>
                        <a:t>114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30" i="0">
                          <a:solidFill>
                            <a:srgbClr val="243238"/>
                          </a:solidFill>
                          <a:latin typeface="Helvetica Neue"/>
                        </a:rPr>
                        <a:t>centroid, bandwidth, roll-off 85/95 %, flatness, flux, entropy, slope, ZCR, RMS, 7-band contrast, 8 band-energy ratios, HF survival above 4 and 6 kHz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30" i="0">
                          <a:solidFill>
                            <a:srgbClr val="243238"/>
                          </a:solidFill>
                          <a:latin typeface="Helvetica Neue"/>
                        </a:rPr>
                        <a:t>Prosodic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30" i="0">
                          <a:solidFill>
                            <a:srgbClr val="243238"/>
                          </a:solidFill>
                          <a:latin typeface="Helvetica Neue"/>
                        </a:rPr>
                        <a:t>56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30" i="0">
                          <a:solidFill>
                            <a:srgbClr val="243238"/>
                          </a:solidFill>
                          <a:latin typeface="Helvetica Neue"/>
                        </a:rPr>
                        <a:t>F₀ statistics and slope, jitter (local/RAP/PPQ5/DDP), shimmer (local/dB/APQ3/APQ5/APQ11/DDA), HNR, formants F₁–F₅ with bandwidths, intensity, voiced timing, CPPS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30" i="0">
                          <a:solidFill>
                            <a:srgbClr val="243238"/>
                          </a:solidFill>
                          <a:latin typeface="Helvetica Neue"/>
                        </a:rPr>
                        <a:t>Chroma + global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30" i="0">
                          <a:solidFill>
                            <a:srgbClr val="243238"/>
                          </a:solidFill>
                          <a:latin typeface="Helvetica Neue"/>
                        </a:rPr>
                        <a:t>26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30" i="0">
                          <a:solidFill>
                            <a:srgbClr val="243238"/>
                          </a:solidFill>
                          <a:latin typeface="Helvetica Neue"/>
                        </a:rPr>
                        <a:t>12 chroma bins; clip duration and peak amplitude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" y="4187952"/>
            <a:ext cx="6426042" cy="20299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849">
                <a:solidFill>
                  <a:srgbClr val="2E6F9E"/>
                </a:solidFill>
                <a:latin typeface="Helvetica Neue"/>
              </a:rPr>
              <a:t>•  </a:t>
            </a:r>
            <a:r>
              <a:rPr b="0" sz="1180" i="0">
                <a:solidFill>
                  <a:srgbClr val="243238"/>
                </a:solidFill>
                <a:latin typeface="Helvetica Neue"/>
              </a:rPr>
              <a:t>Every frame-level contour is collapsed to </a:t>
            </a:r>
            <a:r>
              <a:rPr b="1" sz="1180" i="0">
                <a:solidFill>
                  <a:srgbClr val="0D1418"/>
                </a:solidFill>
                <a:latin typeface="Helvetica Neue"/>
              </a:rPr>
              <a:t>eight order statistics</a:t>
            </a:r>
            <a:r>
              <a:rPr b="0" sz="1180" i="0">
                <a:solidFill>
                  <a:srgbClr val="243238"/>
                </a:solidFill>
                <a:latin typeface="Helvetica Neue"/>
              </a:rPr>
              <a:t> — mean, std, min, max, median, IQR, skewness, excess kurtosis.</a:t>
            </a:r>
          </a:p>
          <a:p>
            <a:pPr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849">
                <a:solidFill>
                  <a:srgbClr val="2E6F9E"/>
                </a:solidFill>
                <a:latin typeface="Helvetica Neue"/>
              </a:rPr>
              <a:t>•  </a:t>
            </a:r>
            <a:r>
              <a:rPr b="0" sz="1180" i="0">
                <a:solidFill>
                  <a:srgbClr val="243238"/>
                </a:solidFill>
                <a:latin typeface="Helvetica Neue"/>
              </a:rPr>
              <a:t>librosa with a 512-point FFT, 400-sample window, 160-sample hop; prosody in Praat through Parselmouth. Chroma tuning is </a:t>
            </a:r>
            <a:r>
              <a:rPr b="1" sz="1180" i="0">
                <a:solidFill>
                  <a:srgbClr val="0D1418"/>
                </a:solidFill>
                <a:latin typeface="Helvetica Neue"/>
              </a:rPr>
              <a:t>pinned to zero</a:t>
            </a:r>
            <a:r>
              <a:rPr b="0" sz="1180" i="0">
                <a:solidFill>
                  <a:srgbClr val="243238"/>
                </a:solidFill>
                <a:latin typeface="Helvetica Neue"/>
              </a:rPr>
              <a:t> — an estimated tuning would itself shift under compression and become part of the effect being measured.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68933" y="1426464"/>
            <a:ext cx="4119257" cy="2304288"/>
          </a:xfrm>
          <a:prstGeom prst="roundRect">
            <a:avLst>
              <a:gd name="adj" fmla="val 3500"/>
            </a:avLst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4965" y="1591056"/>
            <a:ext cx="3643769" cy="4626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b="0" sz="1000" i="0">
                <a:solidFill>
                  <a:srgbClr val="C4462E"/>
                </a:solidFill>
                <a:latin typeface="Helvetica Neue"/>
              </a:rPr>
              <a:t>WHY NAMED DESCRIPTORS</a:t>
            </a:r>
          </a:p>
          <a:p>
            <a:pPr>
              <a:lnSpc>
                <a:spcPct val="118000"/>
              </a:lnSpc>
              <a:spcBef>
                <a:spcPts val="900"/>
              </a:spcBef>
            </a:pPr>
            <a:r>
              <a:rPr b="0" sz="1200" i="0">
                <a:solidFill>
                  <a:srgbClr val="243238"/>
                </a:solidFill>
                <a:latin typeface="Helvetica Neue"/>
              </a:rPr>
              <a:t>An attribution on a latent dimension is not a claim about anything an acoustician would recognise.</a:t>
            </a:r>
          </a:p>
          <a:p>
            <a:pPr>
              <a:lnSpc>
                <a:spcPct val="118000"/>
              </a:lnSpc>
              <a:spcBef>
                <a:spcPts val="900"/>
              </a:spcBef>
            </a:pPr>
            <a:r>
              <a:rPr b="0" sz="1200" i="0">
                <a:solidFill>
                  <a:srgbClr val="243238"/>
                </a:solidFill>
                <a:latin typeface="Helvetica Neue"/>
              </a:rPr>
              <a:t>An attribution on </a:t>
            </a:r>
            <a:r>
              <a:rPr sz="1080" b="0" i="0">
                <a:solidFill>
                  <a:srgbClr val="243238"/>
                </a:solidFill>
                <a:latin typeface="Menlo"/>
              </a:rPr>
              <a:t>prosody_cpps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 is a claim about </a:t>
            </a:r>
            <a:r>
              <a:rPr b="1" sz="1200" i="0">
                <a:solidFill>
                  <a:srgbClr val="0D1418"/>
                </a:solidFill>
                <a:latin typeface="Helvetica Neue"/>
              </a:rPr>
              <a:t>breathiness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. A split on </a:t>
            </a:r>
            <a:r>
              <a:rPr sz="1080" b="0" i="0">
                <a:solidFill>
                  <a:srgbClr val="243238"/>
                </a:solidFill>
                <a:latin typeface="Menlo"/>
              </a:rPr>
              <a:t>spectral_contrast_6_mean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 is a claim about the </a:t>
            </a:r>
            <a:r>
              <a:rPr b="1" sz="1200" i="0">
                <a:solidFill>
                  <a:srgbClr val="0D1418"/>
                </a:solidFill>
                <a:latin typeface="Helvetica Neue"/>
              </a:rPr>
              <a:t>6–8 kHz band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. Everything here is exact rather than estimated, and can be checked against an acoustic reading.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8933" y="3913632"/>
            <a:ext cx="411925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00" i="0" spc="120">
                <a:solidFill>
                  <a:srgbClr val="2E6F9E"/>
                </a:solidFill>
                <a:latin typeface="Helvetica Neue"/>
              </a:rPr>
              <a:t>SEPARABILITY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8933" y="4187952"/>
            <a:ext cx="4119257" cy="20299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827">
                <a:solidFill>
                  <a:srgbClr val="2E6F9E"/>
                </a:solidFill>
                <a:latin typeface="Helvetica Neue"/>
              </a:rPr>
              <a:t>•  </a:t>
            </a:r>
            <a:r>
              <a:rPr b="1" sz="1150" i="0">
                <a:solidFill>
                  <a:srgbClr val="0D1418"/>
                </a:solidFill>
                <a:latin typeface="Helvetica Neue"/>
              </a:rPr>
              <a:t>397 of 436</a:t>
            </a:r>
            <a:r>
              <a:rPr b="0" sz="1150" i="0">
                <a:solidFill>
                  <a:srgbClr val="243238"/>
                </a:solidFill>
                <a:latin typeface="Helvetica Neue"/>
              </a:rPr>
              <a:t> descriptors separate emotion at Bonferroni-corrected significance.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827">
                <a:solidFill>
                  <a:srgbClr val="2E6F9E"/>
                </a:solidFill>
                <a:latin typeface="Helvetica Neue"/>
              </a:rPr>
              <a:t>•  </a:t>
            </a:r>
            <a:r>
              <a:rPr b="0" sz="1150" i="0">
                <a:solidFill>
                  <a:srgbClr val="243238"/>
                </a:solidFill>
                <a:latin typeface="Helvetica Neue"/>
              </a:rPr>
              <a:t>Strongest: </a:t>
            </a:r>
            <a:r>
              <a:rPr sz="1035" b="0" i="0">
                <a:solidFill>
                  <a:srgbClr val="243238"/>
                </a:solidFill>
                <a:latin typeface="Menlo"/>
              </a:rPr>
              <a:t>mfcc_d1_00_std</a:t>
            </a:r>
            <a:r>
              <a:rPr b="0" sz="1150" i="0">
                <a:solidFill>
                  <a:srgbClr val="243238"/>
                </a:solidFill>
                <a:latin typeface="Helvetica Neue"/>
              </a:rPr>
              <a:t> (F = 1194), </a:t>
            </a:r>
            <a:r>
              <a:rPr sz="1035" b="0" i="0">
                <a:solidFill>
                  <a:srgbClr val="243238"/>
                </a:solidFill>
                <a:latin typeface="Menlo"/>
              </a:rPr>
              <a:t>mfcc_00_std</a:t>
            </a:r>
            <a:r>
              <a:rPr b="0" sz="1150" i="0">
                <a:solidFill>
                  <a:srgbClr val="243238"/>
                </a:solidFill>
                <a:latin typeface="Helvetica Neue"/>
              </a:rPr>
              <a:t> (1159), </a:t>
            </a:r>
            <a:r>
              <a:rPr sz="1035" b="0" i="0">
                <a:solidFill>
                  <a:srgbClr val="243238"/>
                </a:solidFill>
                <a:latin typeface="Menlo"/>
              </a:rPr>
              <a:t>prosody_intensity_std</a:t>
            </a:r>
            <a:r>
              <a:rPr b="0" sz="1150" i="0">
                <a:solidFill>
                  <a:srgbClr val="243238"/>
                </a:solidFill>
                <a:latin typeface="Helvetica Neue"/>
              </a:rPr>
              <a:t> (1078) — all </a:t>
            </a:r>
            <a:r>
              <a:rPr b="1" sz="1150" i="0">
                <a:solidFill>
                  <a:srgbClr val="0D1418"/>
                </a:solidFill>
                <a:latin typeface="Helvetica Neue"/>
              </a:rPr>
              <a:t>variability</a:t>
            </a:r>
            <a:r>
              <a:rPr b="0" sz="1150" i="0">
                <a:solidFill>
                  <a:srgbClr val="243238"/>
                </a:solidFill>
                <a:latin typeface="Helvetica Neue"/>
              </a:rPr>
              <a:t> measures. Emotion in acted speech lives in the dynamics.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827">
                <a:solidFill>
                  <a:srgbClr val="2E6F9E"/>
                </a:solidFill>
                <a:latin typeface="Helvetica Neue"/>
              </a:rPr>
              <a:t>•  </a:t>
            </a:r>
            <a:r>
              <a:rPr b="0" sz="1150" i="0">
                <a:solidFill>
                  <a:srgbClr val="243238"/>
                </a:solidFill>
                <a:latin typeface="Helvetica Neue"/>
              </a:rPr>
              <a:t>51 principal components for 95 % of variance: genuinely high-dimensional, not a few latent factors under 436 names.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6236208"/>
            <a:ext cx="10984687" cy="6350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6382512"/>
            <a:ext cx="79089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900" i="0">
                <a:solidFill>
                  <a:srgbClr val="8C9BA2"/>
                </a:solidFill>
                <a:latin typeface="Helvetica Neue"/>
              </a:rPr>
              <a:t>Null-Calibrated Feature Attribution in Explainable SER  ·  CREMA-D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2478" y="6382512"/>
            <a:ext cx="30757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sz="900" i="0">
                <a:solidFill>
                  <a:srgbClr val="8C9BA2"/>
                </a:solidFill>
                <a:latin typeface="Helvetica Neue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spc="140">
                <a:solidFill>
                  <a:srgbClr val="2E6F9E"/>
                </a:solidFill>
                <a:latin typeface="Helvetica Neue"/>
              </a:rPr>
              <a:t>METHODOLOGY  · 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94944"/>
            <a:ext cx="1098468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400" i="0">
                <a:solidFill>
                  <a:srgbClr val="0D1418"/>
                </a:solidFill>
                <a:latin typeface="Helvetica Neue"/>
              </a:rPr>
              <a:t>Fifteen models, an explicit splitting criterion, ten XAI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88720"/>
            <a:ext cx="10984687" cy="9525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" y="1188720"/>
            <a:ext cx="1005840" cy="20320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426464"/>
            <a:ext cx="411925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00" i="0" spc="120">
                <a:solidFill>
                  <a:srgbClr val="2E6F9E"/>
                </a:solidFill>
                <a:latin typeface="Helvetica Neue"/>
              </a:rPr>
              <a:t>THE ZOO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00784"/>
            <a:ext cx="4119257" cy="4517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1000"/>
              </a:spcBef>
              <a:spcAft>
                <a:spcPts val="0"/>
              </a:spcAft>
            </a:pPr>
            <a:r>
              <a:rPr sz="864">
                <a:solidFill>
                  <a:srgbClr val="2E6F9E"/>
                </a:solidFill>
                <a:latin typeface="Helvetica Neue"/>
              </a:rPr>
              <a:t>•  </a:t>
            </a:r>
            <a:r>
              <a:rPr b="1" sz="1200" i="0">
                <a:solidFill>
                  <a:srgbClr val="0D1418"/>
                </a:solidFill>
                <a:latin typeface="Helvetica Neue"/>
              </a:rPr>
              <a:t>14 scikit-learn classifiers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 spanning tree ensembles, kernel machines, linear and discriminant models, and instance-based and probabilistic baselines.</a:t>
            </a:r>
          </a:p>
          <a:p>
            <a:pPr>
              <a:lnSpc>
                <a:spcPct val="116000"/>
              </a:lnSpc>
              <a:spcBef>
                <a:spcPts val="1000"/>
              </a:spcBef>
              <a:spcAft>
                <a:spcPts val="0"/>
              </a:spcAft>
            </a:pPr>
            <a:r>
              <a:rPr sz="864">
                <a:solidFill>
                  <a:srgbClr val="2E6F9E"/>
                </a:solidFill>
                <a:latin typeface="Helvetica Neue"/>
              </a:rPr>
              <a:t>•  </a:t>
            </a:r>
            <a:r>
              <a:rPr b="1" sz="1200" i="0">
                <a:solidFill>
                  <a:srgbClr val="0D1418"/>
                </a:solidFill>
                <a:latin typeface="Helvetica Neue"/>
              </a:rPr>
              <a:t>1 PyTorch MLP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 — 512-256-128, batch norm, dropout 0.3, AdamW under a cosine schedule, class-weighted cross-entropy with label smoothing, early stopping on validation balanced accuracy.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3581176"/>
            <a:ext cx="411925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00" i="0" spc="120">
                <a:solidFill>
                  <a:srgbClr val="2E6F9E"/>
                </a:solidFill>
                <a:latin typeface="Helvetica Neue"/>
              </a:rPr>
              <a:t>THE XAI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3855496"/>
            <a:ext cx="4119257" cy="23624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1000"/>
              </a:spcBef>
              <a:spcAft>
                <a:spcPts val="0"/>
              </a:spcAft>
            </a:pPr>
            <a:r>
              <a:rPr sz="864">
                <a:solidFill>
                  <a:srgbClr val="2E6F9E"/>
                </a:solidFill>
                <a:latin typeface="Helvetica Neue"/>
              </a:rPr>
              <a:t>•  </a:t>
            </a:r>
            <a:r>
              <a:rPr b="1" sz="1200" i="0">
                <a:solidFill>
                  <a:srgbClr val="0D1418"/>
                </a:solidFill>
                <a:latin typeface="Helvetica Neue"/>
              </a:rPr>
              <a:t>Tabular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 — TreeSHAP (exact for ensembles), LinearSHAP, KernelSHAP, LIME, permutation importance, partial dependence, and a depth-4 global surrogate tree.</a:t>
            </a:r>
          </a:p>
          <a:p>
            <a:pPr>
              <a:lnSpc>
                <a:spcPct val="116000"/>
              </a:lnSpc>
              <a:spcBef>
                <a:spcPts val="1000"/>
              </a:spcBef>
              <a:spcAft>
                <a:spcPts val="0"/>
              </a:spcAft>
            </a:pPr>
            <a:r>
              <a:rPr sz="864">
                <a:solidFill>
                  <a:srgbClr val="2E6F9E"/>
                </a:solidFill>
                <a:latin typeface="Helvetica Neue"/>
              </a:rPr>
              <a:t>•  </a:t>
            </a:r>
            <a:r>
              <a:rPr b="1" sz="1200" i="0">
                <a:solidFill>
                  <a:srgbClr val="0D1418"/>
                </a:solidFill>
                <a:latin typeface="Helvetica Neue"/>
              </a:rPr>
              <a:t>Network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 — six Captum methods: Saliency, Input×Gradient, Integrated Gradients, DeepLIFT, GradientSHAP, Feature Ablation.</a:t>
            </a:r>
          </a:p>
          <a:p>
            <a:pPr>
              <a:lnSpc>
                <a:spcPct val="116000"/>
              </a:lnSpc>
              <a:spcBef>
                <a:spcPts val="1000"/>
              </a:spcBef>
              <a:spcAft>
                <a:spcPts val="0"/>
              </a:spcAft>
            </a:pPr>
            <a:r>
              <a:rPr sz="864">
                <a:solidFill>
                  <a:srgbClr val="2E6F9E"/>
                </a:solidFill>
                <a:latin typeface="Helvetica Neue"/>
              </a:rPr>
              <a:t>•  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All attribution is measured on the </a:t>
            </a:r>
            <a:r>
              <a:rPr b="1" sz="1200" i="0">
                <a:solidFill>
                  <a:srgbClr val="0D1418"/>
                </a:solidFill>
                <a:latin typeface="Helvetica Neue"/>
              </a:rPr>
              <a:t>held-out speakers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71996" y="1389888"/>
            <a:ext cx="6316195" cy="4828032"/>
          </a:xfrm>
          <a:prstGeom prst="roundRect">
            <a:avLst>
              <a:gd name="adj" fmla="val 3500"/>
            </a:avLst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82892" y="1572768"/>
            <a:ext cx="56944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00" i="0" spc="120">
                <a:solidFill>
                  <a:srgbClr val="C4462E"/>
                </a:solidFill>
                <a:latin typeface="Helvetica Neue"/>
              </a:rPr>
              <a:t>ENTROPY AND INFORMATION GAIN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2892" y="1847088"/>
            <a:ext cx="5694403" cy="43708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b="0" sz="1200" i="0">
                <a:solidFill>
                  <a:srgbClr val="243238"/>
                </a:solidFill>
                <a:latin typeface="Helvetica Neue"/>
              </a:rPr>
              <a:t>Trees are grown with the </a:t>
            </a:r>
            <a:r>
              <a:rPr b="1" sz="1200" i="0">
                <a:solidFill>
                  <a:srgbClr val="0D1418"/>
                </a:solidFill>
                <a:latin typeface="Helvetica Neue"/>
              </a:rPr>
              <a:t>Shannon-entropy criterion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 rather than Gini, so the split rules reported later are exactly the rules these equations describe. Class weights are balanced.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2892" y="2627894"/>
            <a:ext cx="5694403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0" sz="1700" i="0">
                <a:solidFill>
                  <a:srgbClr val="0D1418"/>
                </a:solidFill>
                <a:latin typeface="Helvetica Neue"/>
              </a:rPr>
              <a:t>H(S)  =  −  Σ</a:t>
            </a:r>
            <a:r>
              <a:rPr b="0" sz="1100" i="0">
                <a:solidFill>
                  <a:srgbClr val="0D1418"/>
                </a:solidFill>
                <a:latin typeface="Helvetica Neue"/>
              </a:rPr>
              <a:t>c</a:t>
            </a:r>
            <a:r>
              <a:rPr b="0" sz="1700" i="0">
                <a:solidFill>
                  <a:srgbClr val="0D1418"/>
                </a:solidFill>
                <a:latin typeface="Helvetica Neue"/>
              </a:rPr>
              <a:t>   p</a:t>
            </a:r>
            <a:r>
              <a:rPr b="0" sz="1100" i="0">
                <a:solidFill>
                  <a:srgbClr val="0D1418"/>
                </a:solidFill>
                <a:latin typeface="Helvetica Neue"/>
              </a:rPr>
              <a:t>c</a:t>
            </a:r>
            <a:r>
              <a:rPr b="0" sz="1700" i="0">
                <a:solidFill>
                  <a:srgbClr val="0D1418"/>
                </a:solidFill>
                <a:latin typeface="Helvetica Neue"/>
              </a:rPr>
              <a:t>   log</a:t>
            </a:r>
            <a:r>
              <a:rPr b="0" sz="1100" i="0">
                <a:solidFill>
                  <a:srgbClr val="0D1418"/>
                </a:solidFill>
                <a:latin typeface="Helvetica Neue"/>
              </a:rPr>
              <a:t>2</a:t>
            </a:r>
            <a:r>
              <a:rPr b="0" sz="1700" i="0">
                <a:solidFill>
                  <a:srgbClr val="0D1418"/>
                </a:solidFill>
                <a:latin typeface="Helvetica Neue"/>
              </a:rPr>
              <a:t>   p</a:t>
            </a:r>
            <a:r>
              <a:rPr b="0" sz="1100" i="0">
                <a:solidFill>
                  <a:srgbClr val="0D1418"/>
                </a:solidFill>
                <a:latin typeface="Helvetica Neue"/>
              </a:rPr>
              <a:t>c</a:t>
            </a:r>
          </a:p>
          <a:p>
            <a:pPr algn="ctr">
              <a:spcBef>
                <a:spcPts val="1300"/>
              </a:spcBef>
            </a:pPr>
            <a:r>
              <a:rPr b="0" sz="1700" i="0">
                <a:solidFill>
                  <a:srgbClr val="0D1418"/>
                </a:solidFill>
                <a:latin typeface="Helvetica Neue"/>
              </a:rPr>
              <a:t>IG(S, f, τ)  =  H(S)  −  (w</a:t>
            </a:r>
            <a:r>
              <a:rPr b="0" sz="1100" i="0">
                <a:solidFill>
                  <a:srgbClr val="0D1418"/>
                </a:solidFill>
                <a:latin typeface="Helvetica Neue"/>
              </a:rPr>
              <a:t>L</a:t>
            </a:r>
            <a:r>
              <a:rPr b="0" sz="1700" i="0">
                <a:solidFill>
                  <a:srgbClr val="0D1418"/>
                </a:solidFill>
                <a:latin typeface="Helvetica Neue"/>
              </a:rPr>
              <a:t>/w) H(S</a:t>
            </a:r>
            <a:r>
              <a:rPr b="0" sz="1100" i="0">
                <a:solidFill>
                  <a:srgbClr val="0D1418"/>
                </a:solidFill>
                <a:latin typeface="Helvetica Neue"/>
              </a:rPr>
              <a:t>L</a:t>
            </a:r>
            <a:r>
              <a:rPr b="0" sz="1700" i="0">
                <a:solidFill>
                  <a:srgbClr val="0D1418"/>
                </a:solidFill>
                <a:latin typeface="Helvetica Neue"/>
              </a:rPr>
              <a:t>)  −  (w</a:t>
            </a:r>
            <a:r>
              <a:rPr b="0" sz="1100" i="0">
                <a:solidFill>
                  <a:srgbClr val="0D1418"/>
                </a:solidFill>
                <a:latin typeface="Helvetica Neue"/>
              </a:rPr>
              <a:t>R</a:t>
            </a:r>
            <a:r>
              <a:rPr b="0" sz="1700" i="0">
                <a:solidFill>
                  <a:srgbClr val="0D1418"/>
                </a:solidFill>
                <a:latin typeface="Helvetica Neue"/>
              </a:rPr>
              <a:t>/w) H(S</a:t>
            </a:r>
            <a:r>
              <a:rPr b="0" sz="1100" i="0">
                <a:solidFill>
                  <a:srgbClr val="0D1418"/>
                </a:solidFill>
                <a:latin typeface="Helvetica Neue"/>
              </a:rPr>
              <a:t>R</a:t>
            </a:r>
            <a:r>
              <a:rPr b="0" sz="1700" i="0">
                <a:solidFill>
                  <a:srgbClr val="0D1418"/>
                </a:solidFill>
                <a:latin typeface="Helvetica Neue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82892" y="3597158"/>
            <a:ext cx="5694403" cy="9525"/>
          </a:xfrm>
          <a:prstGeom prst="rect">
            <a:avLst/>
          </a:prstGeom>
          <a:solidFill>
            <a:srgbClr val="D4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2892" y="3743462"/>
            <a:ext cx="56944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00" i="0" spc="120">
                <a:solidFill>
                  <a:srgbClr val="C4462E"/>
                </a:solidFill>
                <a:latin typeface="Helvetica Neue"/>
              </a:rPr>
              <a:t>WORKED EXAMPLE  ·  THE ROOT OF EVERY TREE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2892" y="4017782"/>
            <a:ext cx="5694403" cy="22001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864">
                <a:solidFill>
                  <a:srgbClr val="C4462E"/>
                </a:solidFill>
                <a:latin typeface="Helvetica Neue"/>
              </a:rPr>
              <a:t>•  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Balanced weights make the root entropy identical in all four conditions: </a:t>
            </a:r>
            <a:r>
              <a:rPr b="1" sz="1200" i="0">
                <a:solidFill>
                  <a:srgbClr val="0D1418"/>
                </a:solidFill>
                <a:latin typeface="Helvetica Neue"/>
              </a:rPr>
              <a:t>H = log₂ 6 = 2.5850 bits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.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864">
                <a:solidFill>
                  <a:srgbClr val="C4462E"/>
                </a:solidFill>
                <a:latin typeface="Helvetica Neue"/>
              </a:rPr>
              <a:t>•  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On uncompressed audio the maximising test is </a:t>
            </a:r>
            <a:r>
              <a:rPr sz="1080" b="0" i="0">
                <a:solidFill>
                  <a:srgbClr val="243238"/>
                </a:solidFill>
                <a:latin typeface="Menlo"/>
              </a:rPr>
              <a:t>prosody_intensity_std ≤ 8.2184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, sending 3098.67 of the 4905.00 weighted samples left.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864">
                <a:solidFill>
                  <a:srgbClr val="C4462E"/>
                </a:solidFill>
                <a:latin typeface="Helvetica Neue"/>
              </a:rPr>
              <a:t>•  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IG = 2.5850 − 1.5066 − 0.7693 = </a:t>
            </a:r>
            <a:r>
              <a:rPr b="1" sz="1200" i="0">
                <a:solidFill>
                  <a:srgbClr val="0D1418"/>
                </a:solidFill>
                <a:latin typeface="Helvetica Neue"/>
              </a:rPr>
              <a:t>0.3090 bits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.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864">
                <a:solidFill>
                  <a:srgbClr val="C4462E"/>
                </a:solidFill>
                <a:latin typeface="Helvetica Neue"/>
              </a:rPr>
              <a:t>•  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The single most informative question about a CREMA-D clip is </a:t>
            </a:r>
            <a:r>
              <a:rPr b="0" i="1" sz="1200">
                <a:solidFill>
                  <a:srgbClr val="243238"/>
                </a:solidFill>
                <a:latin typeface="Helvetica Neue"/>
              </a:rPr>
              <a:t>how much does its loudness vary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, and the answer resolves </a:t>
            </a:r>
            <a:r>
              <a:rPr b="1" sz="1200" i="0">
                <a:solidFill>
                  <a:srgbClr val="0D1418"/>
                </a:solidFill>
                <a:latin typeface="Helvetica Neue"/>
              </a:rPr>
              <a:t>12 %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 of the total label uncertainty.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" y="6236208"/>
            <a:ext cx="10984687" cy="6350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6382512"/>
            <a:ext cx="79089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900" i="0">
                <a:solidFill>
                  <a:srgbClr val="8C9BA2"/>
                </a:solidFill>
                <a:latin typeface="Helvetica Neue"/>
              </a:rPr>
              <a:t>Null-Calibrated Feature Attribution in Explainable SER  ·  CREMA-D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2478" y="6382512"/>
            <a:ext cx="30757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sz="900" i="0">
                <a:solidFill>
                  <a:srgbClr val="8C9BA2"/>
                </a:solidFill>
                <a:latin typeface="Helvetica Neue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spc="140">
                <a:solidFill>
                  <a:srgbClr val="2E6F9E"/>
                </a:solidFill>
                <a:latin typeface="Helvetica Neue"/>
              </a:rPr>
              <a:t>METHODOLOGY  ·  NULL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94944"/>
            <a:ext cx="1098468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400" i="0">
                <a:solidFill>
                  <a:srgbClr val="0D1418"/>
                </a:solidFill>
                <a:latin typeface="Helvetica Neue"/>
              </a:rPr>
              <a:t>An attribution-shift claim needs a null: the ranking itself is fragile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88720"/>
            <a:ext cx="10984687" cy="9525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" y="1188720"/>
            <a:ext cx="1005840" cy="20320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426464"/>
            <a:ext cx="5052956" cy="4791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1100"/>
              </a:spcBef>
              <a:spcAft>
                <a:spcPts val="0"/>
              </a:spcAft>
            </a:pPr>
            <a:r>
              <a:rPr sz="936">
                <a:solidFill>
                  <a:srgbClr val="2E6F9E"/>
                </a:solidFill>
                <a:latin typeface="Helvetica Neue"/>
              </a:rPr>
              <a:t>•  </a:t>
            </a:r>
            <a:r>
              <a:rPr b="0" sz="1300" i="0">
                <a:solidFill>
                  <a:srgbClr val="243238"/>
                </a:solidFill>
                <a:latin typeface="Helvetica Neue"/>
              </a:rPr>
              <a:t>A claim of the form </a:t>
            </a:r>
            <a:r>
              <a:rPr b="0" i="1" sz="1300">
                <a:solidFill>
                  <a:srgbClr val="243238"/>
                </a:solidFill>
                <a:latin typeface="Helvetica Neue"/>
              </a:rPr>
              <a:t>“compression changed which features the model relies on”</a:t>
            </a:r>
            <a:r>
              <a:rPr b="0" sz="1300" i="0">
                <a:solidFill>
                  <a:srgbClr val="243238"/>
                </a:solidFill>
                <a:latin typeface="Helvetica Neue"/>
              </a:rPr>
              <a:t> is easy to produce and hard to justify.</a:t>
            </a:r>
          </a:p>
          <a:p>
            <a:pPr>
              <a:lnSpc>
                <a:spcPct val="116000"/>
              </a:lnSpc>
              <a:spcBef>
                <a:spcPts val="1100"/>
              </a:spcBef>
              <a:spcAft>
                <a:spcPts val="0"/>
              </a:spcAft>
            </a:pPr>
            <a:r>
              <a:rPr sz="936">
                <a:solidFill>
                  <a:srgbClr val="2E6F9E"/>
                </a:solidFill>
                <a:latin typeface="Helvetica Neue"/>
              </a:rPr>
              <a:t>•  </a:t>
            </a:r>
            <a:r>
              <a:rPr b="0" sz="1300" i="0">
                <a:solidFill>
                  <a:srgbClr val="243238"/>
                </a:solidFill>
                <a:latin typeface="Helvetica Neue"/>
              </a:rPr>
              <a:t>Feature-importance rankings are unstable by construction. Two descriptors that split the data almost equally well trade places, and </a:t>
            </a:r>
            <a:r>
              <a:rPr b="1" sz="1300" i="0">
                <a:solidFill>
                  <a:srgbClr val="0D1418"/>
                </a:solidFill>
                <a:latin typeface="Helvetica Neue"/>
              </a:rPr>
              <a:t>a single swap near the root reroutes every node below it</a:t>
            </a:r>
            <a:r>
              <a:rPr b="0" sz="1300" i="0">
                <a:solidFill>
                  <a:srgbClr val="243238"/>
                </a:solidFill>
                <a:latin typeface="Helvetica Neue"/>
              </a:rPr>
              <a:t>.</a:t>
            </a:r>
          </a:p>
          <a:p>
            <a:pPr>
              <a:lnSpc>
                <a:spcPct val="116000"/>
              </a:lnSpc>
              <a:spcBef>
                <a:spcPts val="1100"/>
              </a:spcBef>
              <a:spcAft>
                <a:spcPts val="0"/>
              </a:spcAft>
            </a:pPr>
            <a:r>
              <a:rPr sz="936">
                <a:solidFill>
                  <a:srgbClr val="2E6F9E"/>
                </a:solidFill>
                <a:latin typeface="Helvetica Neue"/>
              </a:rPr>
              <a:t>•  </a:t>
            </a:r>
            <a:r>
              <a:rPr b="0" sz="1300" i="0">
                <a:solidFill>
                  <a:srgbClr val="243238"/>
                </a:solidFill>
                <a:latin typeface="Helvetica Neue"/>
              </a:rPr>
              <a:t>The general warning is in the literature. The specific discipline it implies — measure the shift induced by a manipulation that carries </a:t>
            </a:r>
            <a:r>
              <a:rPr b="1" sz="1300" i="0">
                <a:solidFill>
                  <a:srgbClr val="0D1418"/>
                </a:solidFill>
                <a:latin typeface="Helvetica Neue"/>
              </a:rPr>
              <a:t>no information</a:t>
            </a:r>
            <a:r>
              <a:rPr b="0" sz="1300" i="0">
                <a:solidFill>
                  <a:srgbClr val="243238"/>
                </a:solidFill>
                <a:latin typeface="Helvetica Neue"/>
              </a:rPr>
              <a:t> — is not yet standard practice.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3834058"/>
            <a:ext cx="50529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00" i="0" spc="120">
                <a:solidFill>
                  <a:srgbClr val="C4462E"/>
                </a:solidFill>
                <a:latin typeface="Helvetica Neue"/>
              </a:rPr>
              <a:t>THREE FLOORS, ALL ON THE SAME ESTIMATOR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" y="4108378"/>
          <a:ext cx="5052955" cy="1152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9064"/>
                <a:gridCol w="3233891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Floor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What it varies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80" i="0">
                          <a:solidFill>
                            <a:srgbClr val="243238"/>
                          </a:solidFill>
                          <a:latin typeface="Helvetica Neue"/>
                        </a:rPr>
                        <a:t>Tie-breaking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80" i="0">
                          <a:solidFill>
                            <a:srgbClr val="243238"/>
                          </a:solidFill>
                          <a:latin typeface="Helvetica Neue"/>
                        </a:rPr>
                        <a:t>the estimator only, data held fixed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80" i="0">
                          <a:solidFill>
                            <a:srgbClr val="243238"/>
                          </a:solidFill>
                          <a:latin typeface="Helvetica Neue"/>
                        </a:rPr>
                        <a:t>Actor bootstrap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80" i="0">
                          <a:solidFill>
                            <a:srgbClr val="243238"/>
                          </a:solidFill>
                          <a:latin typeface="Helvetica Neue"/>
                        </a:rPr>
                        <a:t>which actors are fitted, codec fixed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80" i="0">
                          <a:solidFill>
                            <a:srgbClr val="243238"/>
                          </a:solidFill>
                          <a:latin typeface="Helvetica Neue"/>
                        </a:rPr>
                        <a:t>Container re-wrap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80" i="0">
                          <a:solidFill>
                            <a:srgbClr val="243238"/>
                          </a:solidFill>
                          <a:latin typeface="Helvetica Neue"/>
                        </a:rPr>
                        <a:t>the decode path, codec output fixed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60617" y="1426464"/>
            <a:ext cx="532757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00" i="0" spc="120">
                <a:solidFill>
                  <a:srgbClr val="2E6F9E"/>
                </a:solidFill>
                <a:latin typeface="Helvetica Neue"/>
              </a:rPr>
              <a:t>THE PAIRED WITHIN-DRAW 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0617" y="1700784"/>
            <a:ext cx="5327573" cy="658368"/>
          </a:xfrm>
          <a:prstGeom prst="roundRect">
            <a:avLst>
              <a:gd name="adj" fmla="val 3500"/>
            </a:avLst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0617" y="1700784"/>
            <a:ext cx="45720" cy="658368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8361" y="17556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200" i="0">
                <a:solidFill>
                  <a:srgbClr val="2E6F9E"/>
                </a:solidFill>
                <a:latin typeface="Helvetica Neue"/>
              </a:rPr>
              <a:t>Draw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3033" y="1755648"/>
            <a:ext cx="4047413" cy="4462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b="0" sz="1150" i="0">
                <a:solidFill>
                  <a:srgbClr val="243238"/>
                </a:solidFill>
                <a:latin typeface="Helvetica Neue"/>
              </a:rPr>
              <a:t>On each of </a:t>
            </a:r>
            <a:r>
              <a:rPr b="1" sz="1150" i="0">
                <a:solidFill>
                  <a:srgbClr val="0D1418"/>
                </a:solidFill>
                <a:latin typeface="Helvetica Neue"/>
              </a:rPr>
              <a:t>20 draws</a:t>
            </a:r>
            <a:r>
              <a:rPr b="0" sz="1150" i="0">
                <a:solidFill>
                  <a:srgbClr val="243238"/>
                </a:solidFill>
                <a:latin typeface="Helvetica Neue"/>
              </a:rPr>
              <a:t>, sample </a:t>
            </a:r>
            <a:r>
              <a:rPr b="1" sz="1150" i="0">
                <a:solidFill>
                  <a:srgbClr val="0D1418"/>
                </a:solidFill>
                <a:latin typeface="Helvetica Neue"/>
              </a:rPr>
              <a:t>51 of the 60</a:t>
            </a:r>
            <a:r>
              <a:rPr b="0" sz="1150" i="0">
                <a:solidFill>
                  <a:srgbClr val="243238"/>
                </a:solidFill>
                <a:latin typeface="Helvetica Neue"/>
              </a:rPr>
              <a:t> training actors without replacement. No actor is duplicated.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0617" y="2487168"/>
            <a:ext cx="5327573" cy="658368"/>
          </a:xfrm>
          <a:prstGeom prst="roundRect">
            <a:avLst>
              <a:gd name="adj" fmla="val 3500"/>
            </a:avLst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0617" y="2487168"/>
            <a:ext cx="45720" cy="658368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8361" y="25420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200" i="0">
                <a:solidFill>
                  <a:srgbClr val="2E6F9E"/>
                </a:solidFill>
                <a:latin typeface="Helvetica Neue"/>
              </a:rPr>
              <a:t>Floor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3033" y="2542032"/>
            <a:ext cx="4047413" cy="3675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b="0" sz="1150" i="0">
                <a:solidFill>
                  <a:srgbClr val="243238"/>
                </a:solidFill>
                <a:latin typeface="Helvetica Neue"/>
              </a:rPr>
              <a:t>Fit the tree </a:t>
            </a:r>
            <a:r>
              <a:rPr b="1" sz="1150" i="0">
                <a:solidFill>
                  <a:srgbClr val="0D1418"/>
                </a:solidFill>
                <a:latin typeface="Helvetica Neue"/>
              </a:rPr>
              <a:t>twice on the uncompressed audio of those actors</a:t>
            </a:r>
            <a:r>
              <a:rPr b="0" sz="1150" i="0">
                <a:solidFill>
                  <a:srgbClr val="243238"/>
                </a:solidFill>
                <a:latin typeface="Helvetica Neue"/>
              </a:rPr>
              <a:t> under different tie-breaking. That is the floor for this draw.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0617" y="3273552"/>
            <a:ext cx="5327573" cy="658368"/>
          </a:xfrm>
          <a:prstGeom prst="roundRect">
            <a:avLst>
              <a:gd name="adj" fmla="val 3500"/>
            </a:avLst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0617" y="3273552"/>
            <a:ext cx="45720" cy="658368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8361" y="332841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200" i="0">
                <a:solidFill>
                  <a:srgbClr val="2E6F9E"/>
                </a:solidFill>
                <a:latin typeface="Helvetica Neue"/>
              </a:rPr>
              <a:t>Effect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3033" y="3328416"/>
            <a:ext cx="4047413" cy="2889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b="0" sz="1150" i="0">
                <a:solidFill>
                  <a:srgbClr val="243238"/>
                </a:solidFill>
                <a:latin typeface="Helvetica Neue"/>
              </a:rPr>
              <a:t>Fit once on the </a:t>
            </a:r>
            <a:r>
              <a:rPr b="1" sz="1150" i="0">
                <a:solidFill>
                  <a:srgbClr val="0D1418"/>
                </a:solidFill>
                <a:latin typeface="Helvetica Neue"/>
              </a:rPr>
              <a:t>coded audio of the same actors</a:t>
            </a:r>
            <a:r>
              <a:rPr b="0" sz="1150" i="0">
                <a:solidFill>
                  <a:srgbClr val="243238"/>
                </a:solidFill>
                <a:latin typeface="Helvetica Neue"/>
              </a:rPr>
              <a:t>. That is the effect for this draw.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0617" y="4059936"/>
            <a:ext cx="5327573" cy="658368"/>
          </a:xfrm>
          <a:prstGeom prst="roundRect">
            <a:avLst>
              <a:gd name="adj" fmla="val 3500"/>
            </a:avLst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0617" y="4059936"/>
            <a:ext cx="45720" cy="658368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8361" y="4114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200" i="0">
                <a:solidFill>
                  <a:srgbClr val="2E6F9E"/>
                </a:solidFill>
                <a:latin typeface="Helvetica Neue"/>
              </a:rPr>
              <a:t>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3033" y="4114800"/>
            <a:ext cx="4047413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b="0" sz="1150" i="0">
                <a:solidFill>
                  <a:srgbClr val="243238"/>
                </a:solidFill>
                <a:latin typeface="Helvetica Neue"/>
              </a:rPr>
              <a:t>Wilcoxon signed-rank on the paired per-draw difference. Sampling variance is held fixed by construction.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" y="5559552"/>
            <a:ext cx="10984687" cy="658368"/>
          </a:xfrm>
          <a:prstGeom prst="roundRect">
            <a:avLst>
              <a:gd name="adj" fmla="val 3500"/>
            </a:avLst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504" y="5559552"/>
            <a:ext cx="50292" cy="658368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5559552"/>
            <a:ext cx="1048176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0" sz="1350" i="0">
                <a:solidFill>
                  <a:srgbClr val="0D1418"/>
                </a:solidFill>
                <a:latin typeface="Helvetica Neue"/>
              </a:rPr>
              <a:t>Made </a:t>
            </a:r>
            <a:r>
              <a:rPr b="1" sz="1350" i="0">
                <a:solidFill>
                  <a:srgbClr val="0D1418"/>
                </a:solidFill>
                <a:latin typeface="Helvetica Neue"/>
              </a:rPr>
              <a:t>marginally</a:t>
            </a:r>
            <a:r>
              <a:rPr b="0" sz="1350" i="0">
                <a:solidFill>
                  <a:srgbClr val="0D1418"/>
                </a:solidFill>
                <a:latin typeface="Helvetica Neue"/>
              </a:rPr>
              <a:t>, the actor-resampling floor is wide enough to swallow every codec effect, and we would have reported nothing at all. Floor and effect must be measured inside the same draw.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" y="6236208"/>
            <a:ext cx="10984687" cy="6350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6382512"/>
            <a:ext cx="79089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900" i="0">
                <a:solidFill>
                  <a:srgbClr val="8C9BA2"/>
                </a:solidFill>
                <a:latin typeface="Helvetica Neue"/>
              </a:rPr>
              <a:t>Null-Calibrated Feature Attribution in Explainable SER  ·  CREMA-D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12478" y="6382512"/>
            <a:ext cx="30757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sz="900" i="0">
                <a:solidFill>
                  <a:srgbClr val="8C9BA2"/>
                </a:solidFill>
                <a:latin typeface="Helvetica Neue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spc="140">
                <a:solidFill>
                  <a:srgbClr val="C4462E"/>
                </a:solidFill>
                <a:latin typeface="Helvetica Neue"/>
              </a:rPr>
              <a:t>RESULTS  ·  WHAT CODING DOES TO THE DESCRIPTORS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94944"/>
            <a:ext cx="1098468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400" i="0">
                <a:solidFill>
                  <a:srgbClr val="0D1418"/>
                </a:solidFill>
                <a:latin typeface="Helvetica Neue"/>
              </a:rPr>
              <a:t>Two codecs, two entirely different mechanisms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88720"/>
            <a:ext cx="10984687" cy="9525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" y="1188720"/>
            <a:ext cx="1005840" cy="20320"/>
          </a:xfrm>
          <a:prstGeom prst="rect">
            <a:avLst/>
          </a:prstGeom>
          <a:solidFill>
            <a:srgbClr val="C4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677" y="1371600"/>
            <a:ext cx="6970340" cy="21579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" y="3593591"/>
            <a:ext cx="109846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950" i="1">
                <a:solidFill>
                  <a:srgbClr val="5A6B74"/>
                </a:solidFill>
                <a:latin typeface="Helvetica Neue"/>
              </a:rPr>
              <a:t>Measured on the feature table over 7,441 clips, before any model is involved. (a) the six most displaced descriptors under each codec  ·  (b) ECDF of |SMD| over all 436  ·  (c) the encoder-priming shift.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4023360"/>
            <a:ext cx="5336895" cy="2157984"/>
          </a:xfrm>
          <a:prstGeom prst="roundRect">
            <a:avLst>
              <a:gd name="adj" fmla="val 3500"/>
            </a:avLst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" y="4023360"/>
            <a:ext cx="45720" cy="2157984"/>
          </a:xfrm>
          <a:prstGeom prst="rect">
            <a:avLst/>
          </a:prstGeom>
          <a:solidFill>
            <a:srgbClr val="C4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151376"/>
            <a:ext cx="4879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300" i="0">
                <a:solidFill>
                  <a:srgbClr val="0D1418"/>
                </a:solidFill>
                <a:latin typeface="Helvetica Neue"/>
              </a:rPr>
              <a:t>MP3 @ 64 kbit/s abandons the top octave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462272"/>
            <a:ext cx="4879695" cy="1755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b="0" sz="1080" i="0">
                <a:solidFill>
                  <a:srgbClr val="243238"/>
                </a:solidFill>
                <a:latin typeface="Helvetica Neue"/>
              </a:rPr>
              <a:t>Perceptual bit allocation quantises the highest band coarsely and sets masked bins to zero.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972" b="0" i="0">
                <a:solidFill>
                  <a:srgbClr val="243238"/>
                </a:solidFill>
                <a:latin typeface="Menlo"/>
              </a:rPr>
              <a:t>spectral_contrast_6_mean</a:t>
            </a:r>
            <a:r>
              <a:rPr b="0" sz="1080" i="0">
                <a:solidFill>
                  <a:srgbClr val="243238"/>
                </a:solidFill>
                <a:latin typeface="Helvetica Neue"/>
              </a:rPr>
              <a:t> (the 6–8 kHz band) moves </a:t>
            </a:r>
            <a:r>
              <a:rPr b="1" sz="1080" i="0">
                <a:solidFill>
                  <a:srgbClr val="0D1418"/>
                </a:solidFill>
                <a:latin typeface="Helvetica Neue"/>
              </a:rPr>
              <a:t>16.38 → 46.54</a:t>
            </a:r>
            <a:r>
              <a:rPr b="0" sz="1080" i="0">
                <a:solidFill>
                  <a:srgbClr val="243238"/>
                </a:solidFill>
                <a:latin typeface="Helvetica Neue"/>
              </a:rPr>
              <a:t>, which is </a:t>
            </a:r>
            <a:r>
              <a:rPr b="1" sz="1080" i="0">
                <a:solidFill>
                  <a:srgbClr val="0D1418"/>
                </a:solidFill>
                <a:latin typeface="Helvetica Neue"/>
              </a:rPr>
              <a:t>38.6 training standard deviations</a:t>
            </a:r>
            <a:r>
              <a:rPr b="0" sz="1080" i="0">
                <a:solidFill>
                  <a:srgbClr val="243238"/>
                </a:solidFill>
                <a:latin typeface="Helvetica Neue"/>
              </a:rPr>
              <a:t>. Spectral flatness collapses with it, mean 0.0189 → 0.0066.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b="0" sz="1080" i="0">
                <a:solidFill>
                  <a:srgbClr val="243238"/>
                </a:solidFill>
                <a:latin typeface="Helvetica Neue"/>
              </a:rPr>
              <a:t>The descriptor arrives at inference in a range no model fitted on clean audio has ever seen. </a:t>
            </a:r>
            <a:r>
              <a:rPr b="1" sz="1080" i="0">
                <a:solidFill>
                  <a:srgbClr val="0D1418"/>
                </a:solidFill>
                <a:latin typeface="Helvetica Neue"/>
              </a:rPr>
              <a:t>Concentrated damage.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1295" y="4023360"/>
            <a:ext cx="5336895" cy="2157984"/>
          </a:xfrm>
          <a:prstGeom prst="roundRect">
            <a:avLst>
              <a:gd name="adj" fmla="val 3500"/>
            </a:avLst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1295" y="4023360"/>
            <a:ext cx="45720" cy="2157984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9039" y="4151376"/>
            <a:ext cx="4879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300" i="0">
                <a:solidFill>
                  <a:srgbClr val="0D1418"/>
                </a:solidFill>
                <a:latin typeface="Helvetica Neue"/>
              </a:rPr>
              <a:t>MP4/AAC shifts frame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9039" y="4462272"/>
            <a:ext cx="4879695" cy="1755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b="0" sz="1080" i="0">
                <a:solidFill>
                  <a:srgbClr val="243238"/>
                </a:solidFill>
                <a:latin typeface="Helvetica Neue"/>
              </a:rPr>
              <a:t>Encoder priming lengthens every clip uniformly by </a:t>
            </a:r>
            <a:r>
              <a:rPr b="1" sz="1080" i="0">
                <a:solidFill>
                  <a:srgbClr val="0D1418"/>
                </a:solidFill>
                <a:latin typeface="Helvetica Neue"/>
              </a:rPr>
              <a:t>+32.68 ms</a:t>
            </a:r>
            <a:r>
              <a:rPr b="0" sz="1080" i="0">
                <a:solidFill>
                  <a:srgbClr val="243238"/>
                </a:solidFill>
                <a:latin typeface="Helvetica Neue"/>
              </a:rPr>
              <a:t>. MP3 adds only 0.15 ms.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b="0" sz="1080" i="0">
                <a:solidFill>
                  <a:srgbClr val="243238"/>
                </a:solidFill>
                <a:latin typeface="Helvetica Neue"/>
              </a:rPr>
              <a:t>That perturbs every frame-aligned temporal derivative a little: the largest AAC shifts are all delta-MFCC means, led by </a:t>
            </a:r>
            <a:r>
              <a:rPr sz="972" b="0" i="0">
                <a:solidFill>
                  <a:srgbClr val="243238"/>
                </a:solidFill>
                <a:latin typeface="Menlo"/>
              </a:rPr>
              <a:t>mfcc_d1_01_mean</a:t>
            </a:r>
            <a:r>
              <a:rPr b="0" sz="1080" i="0">
                <a:solidFill>
                  <a:srgbClr val="243238"/>
                </a:solidFill>
                <a:latin typeface="Helvetica Neue"/>
              </a:rPr>
              <a:t> at SMD = −4.16.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b="1" sz="1080" i="0">
                <a:solidFill>
                  <a:srgbClr val="0D1418"/>
                </a:solidFill>
                <a:latin typeface="Helvetica Neue"/>
              </a:rPr>
              <a:t>Diffuse damage.</a:t>
            </a:r>
            <a:r>
              <a:rPr b="0" sz="1080" i="0">
                <a:solidFill>
                  <a:srgbClr val="243238"/>
                </a:solidFill>
                <a:latin typeface="Helvetica Neue"/>
              </a:rPr>
              <a:t> Caveat: delta means sit near zero with small standard deviations, so their SMDs are inflated; the duration measurement is the harder evidence.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" y="6236208"/>
            <a:ext cx="10984687" cy="6350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6382512"/>
            <a:ext cx="79089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900" i="0">
                <a:solidFill>
                  <a:srgbClr val="8C9BA2"/>
                </a:solidFill>
                <a:latin typeface="Helvetica Neue"/>
              </a:rPr>
              <a:t>Null-Calibrated Feature Attribution in Explainable SER  ·  CREMA-D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2478" y="6382512"/>
            <a:ext cx="30757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sz="900" i="0">
                <a:solidFill>
                  <a:srgbClr val="8C9BA2"/>
                </a:solidFill>
                <a:latin typeface="Helvetica Neue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spc="140">
                <a:solidFill>
                  <a:srgbClr val="C4462E"/>
                </a:solidFill>
                <a:latin typeface="Helvetica Neue"/>
              </a:rPr>
              <a:t>RESULTS  ·  IN-FORMAT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94944"/>
            <a:ext cx="1098468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400" i="0">
                <a:solidFill>
                  <a:srgbClr val="0D1418"/>
                </a:solidFill>
                <a:latin typeface="Helvetica Neue"/>
              </a:rPr>
              <a:t>On clean audio, intrinsic interpretability costs a third of the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88720"/>
            <a:ext cx="10984687" cy="9525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" y="1188720"/>
            <a:ext cx="1005840" cy="20320"/>
          </a:xfrm>
          <a:prstGeom prst="rect">
            <a:avLst/>
          </a:prstGeom>
          <a:solidFill>
            <a:srgbClr val="C4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" y="1426464"/>
          <a:ext cx="5217724" cy="34015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7090"/>
                <a:gridCol w="782658"/>
                <a:gridCol w="887013"/>
                <a:gridCol w="834836"/>
                <a:gridCol w="626127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Model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Acc.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Bal. acc.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Macro F₁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κ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ANN (PyTorch)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0.599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0.599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0.596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0.518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LightGBM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0.590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0.591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0.584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0.508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SVM (RBF)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0.585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0.586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0.581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0.502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LDA (shrinkage)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0.585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0.585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0.580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0.502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Linear SVM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0.583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0.584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0.577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0.500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XGBoost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0.581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0.582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0.575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0.497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MLP (scikit-learn)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0.573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0.574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0.569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0.488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Logistic regression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0.565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0.567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0.561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0.478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Random forest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0.532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0.535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0.517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0.439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kNN (k = 15)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0.477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0.479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0.466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0.373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Decision tree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0.390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0.391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0.382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0.268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Dummy (majority)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0.171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0.167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0.049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0.000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" y="4828032"/>
            <a:ext cx="5217726" cy="1389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b="0" sz="1000" i="0">
                <a:solidFill>
                  <a:srgbClr val="5A6B74"/>
                </a:solidFill>
                <a:latin typeface="Helvetica Neue"/>
              </a:rPr>
              <a:t>Six-way task, 20 held-out speakers. Chance = 0.167; human voice-only ceiling = 0.455. Eleven of fifteen models shown.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464" y="1371600"/>
            <a:ext cx="173924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2700" i="0">
                <a:solidFill>
                  <a:srgbClr val="C4462E"/>
                </a:solidFill>
                <a:latin typeface="Helvetica Neue"/>
              </a:rPr>
              <a:t>0.391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464" y="1817370"/>
            <a:ext cx="173924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b="0" sz="1050" i="0">
                <a:solidFill>
                  <a:srgbClr val="5A6B74"/>
                </a:solidFill>
                <a:latin typeface="Helvetica Neue"/>
              </a:rPr>
              <a:t>decision tree</a:t>
            </a:r>
          </a:p>
          <a:p>
            <a:pPr algn="ctr">
              <a:lnSpc>
                <a:spcPct val="112000"/>
              </a:lnSpc>
            </a:pPr>
            <a:r>
              <a:rPr b="0" sz="1050" i="0">
                <a:solidFill>
                  <a:srgbClr val="5A6B74"/>
                </a:solidFill>
                <a:latin typeface="Helvetica Neue"/>
              </a:rPr>
              <a:t>balanced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9706" y="1371600"/>
            <a:ext cx="173924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2700" i="0">
                <a:solidFill>
                  <a:srgbClr val="2E6F9E"/>
                </a:solidFill>
                <a:latin typeface="Helvetica Neue"/>
              </a:rPr>
              <a:t>0.599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9706" y="1817370"/>
            <a:ext cx="173924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b="0" sz="1050" i="0">
                <a:solidFill>
                  <a:srgbClr val="5A6B74"/>
                </a:solidFill>
                <a:latin typeface="Helvetica Neue"/>
              </a:rPr>
              <a:t>PyTorch ANN</a:t>
            </a:r>
          </a:p>
          <a:p>
            <a:pPr algn="ctr">
              <a:lnSpc>
                <a:spcPct val="112000"/>
              </a:lnSpc>
            </a:pPr>
            <a:r>
              <a:rPr b="0" sz="1050" i="0">
                <a:solidFill>
                  <a:srgbClr val="5A6B74"/>
                </a:solidFill>
                <a:latin typeface="Helvetica Neue"/>
              </a:rPr>
              <a:t>balanced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48949" y="1371600"/>
            <a:ext cx="173924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2700" i="0">
                <a:solidFill>
                  <a:srgbClr val="0D1418"/>
                </a:solidFill>
                <a:latin typeface="Helvetica Neue"/>
              </a:rPr>
              <a:t>−34 %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48949" y="1817370"/>
            <a:ext cx="173924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b="0" sz="1050" i="0">
                <a:solidFill>
                  <a:srgbClr val="5A6B74"/>
                </a:solidFill>
                <a:latin typeface="Helvetica Neue"/>
              </a:rPr>
              <a:t>the price of a model</a:t>
            </a:r>
          </a:p>
          <a:p>
            <a:pPr algn="ctr">
              <a:lnSpc>
                <a:spcPct val="112000"/>
              </a:lnSpc>
            </a:pPr>
            <a:r>
              <a:rPr b="0" sz="1050" i="0">
                <a:solidFill>
                  <a:srgbClr val="5A6B74"/>
                </a:solidFill>
                <a:latin typeface="Helvetica Neue"/>
              </a:rPr>
              <a:t>a human can 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464" y="2560320"/>
            <a:ext cx="5217726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1200"/>
              </a:spcBef>
              <a:spcAft>
                <a:spcPts val="0"/>
              </a:spcAft>
            </a:pPr>
            <a:r>
              <a:rPr sz="936">
                <a:solidFill>
                  <a:srgbClr val="C4462E"/>
                </a:solidFill>
                <a:latin typeface="Helvetica Neue"/>
              </a:rPr>
              <a:t>•  </a:t>
            </a:r>
            <a:r>
              <a:rPr b="0" sz="1300" i="0">
                <a:solidFill>
                  <a:srgbClr val="243238"/>
                </a:solidFill>
                <a:latin typeface="Helvetica Neue"/>
              </a:rPr>
              <a:t>The decision tree is the </a:t>
            </a:r>
            <a:r>
              <a:rPr b="1" sz="1300" i="0">
                <a:solidFill>
                  <a:srgbClr val="0D1418"/>
                </a:solidFill>
                <a:latin typeface="Helvetica Neue"/>
              </a:rPr>
              <a:t>one model in the zoo a human can read from beginning to end</a:t>
            </a:r>
            <a:r>
              <a:rPr b="0" sz="1300" i="0">
                <a:solidFill>
                  <a:srgbClr val="243238"/>
                </a:solidFill>
                <a:latin typeface="Helvetica Neue"/>
              </a:rPr>
              <a:t>, and it reaches 0.391 against 0.599 for the network. Intrinsic interpretability costs a third of what is achievable here.</a:t>
            </a:r>
          </a:p>
          <a:p>
            <a:pPr>
              <a:lnSpc>
                <a:spcPct val="116000"/>
              </a:lnSpc>
              <a:spcBef>
                <a:spcPts val="1200"/>
              </a:spcBef>
              <a:spcAft>
                <a:spcPts val="0"/>
              </a:spcAft>
            </a:pPr>
            <a:r>
              <a:rPr sz="936">
                <a:solidFill>
                  <a:srgbClr val="C4462E"/>
                </a:solidFill>
                <a:latin typeface="Helvetica Neue"/>
              </a:rPr>
              <a:t>•  </a:t>
            </a:r>
            <a:r>
              <a:rPr b="0" sz="1300" i="0">
                <a:solidFill>
                  <a:srgbClr val="243238"/>
                </a:solidFill>
                <a:latin typeface="Helvetica Neue"/>
              </a:rPr>
              <a:t>That argues </a:t>
            </a:r>
            <a:r>
              <a:rPr b="1" sz="1300" i="0">
                <a:solidFill>
                  <a:srgbClr val="0D1418"/>
                </a:solidFill>
                <a:latin typeface="Helvetica Neue"/>
              </a:rPr>
              <a:t>against Rudin's prescription</a:t>
            </a:r>
            <a:r>
              <a:rPr b="0" sz="1300" i="0">
                <a:solidFill>
                  <a:srgbClr val="243238"/>
                </a:solidFill>
                <a:latin typeface="Helvetica Neue"/>
              </a:rPr>
              <a:t> in this specific setting, and in favour of applying post-hoc attribution to a strong model.</a:t>
            </a:r>
          </a:p>
          <a:p>
            <a:pPr>
              <a:lnSpc>
                <a:spcPct val="116000"/>
              </a:lnSpc>
              <a:spcBef>
                <a:spcPts val="1200"/>
              </a:spcBef>
              <a:spcAft>
                <a:spcPts val="0"/>
              </a:spcAft>
            </a:pPr>
            <a:r>
              <a:rPr sz="936">
                <a:solidFill>
                  <a:srgbClr val="C4462E"/>
                </a:solidFill>
                <a:latin typeface="Helvetica Neue"/>
              </a:rPr>
              <a:t>•  </a:t>
            </a:r>
            <a:r>
              <a:rPr b="0" sz="1300" i="0">
                <a:solidFill>
                  <a:srgbClr val="243238"/>
                </a:solidFill>
                <a:latin typeface="Helvetica Neue"/>
              </a:rPr>
              <a:t>The spread between the top eight models is </a:t>
            </a:r>
            <a:r>
              <a:rPr b="1" sz="1300" i="0">
                <a:solidFill>
                  <a:srgbClr val="0D1418"/>
                </a:solidFill>
                <a:latin typeface="Helvetica Neue"/>
              </a:rPr>
              <a:t>less than three points</a:t>
            </a:r>
            <a:r>
              <a:rPr b="0" sz="1300" i="0">
                <a:solidFill>
                  <a:srgbClr val="243238"/>
                </a:solidFill>
                <a:latin typeface="Helvetica Neue"/>
              </a:rPr>
              <a:t>, so the leaderboard ordering carries little information. The differences that matter here are </a:t>
            </a:r>
            <a:r>
              <a:rPr b="1" sz="1300" i="0">
                <a:solidFill>
                  <a:srgbClr val="0D1418"/>
                </a:solidFill>
                <a:latin typeface="Helvetica Neue"/>
              </a:rPr>
              <a:t>10 to 38 points</a:t>
            </a:r>
            <a:r>
              <a:rPr b="0" sz="1300" i="0">
                <a:solidFill>
                  <a:srgbClr val="243238"/>
                </a:solidFill>
                <a:latin typeface="Helvetica Neue"/>
              </a:rPr>
              <a:t>, and they appear only when the coding condition changes.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70464" y="5414676"/>
            <a:ext cx="5217726" cy="803243"/>
          </a:xfrm>
          <a:prstGeom prst="roundRect">
            <a:avLst>
              <a:gd name="adj" fmla="val 3500"/>
            </a:avLst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70464" y="5414676"/>
            <a:ext cx="50292" cy="803243"/>
          </a:xfrm>
          <a:prstGeom prst="rect">
            <a:avLst/>
          </a:prstGeom>
          <a:solidFill>
            <a:srgbClr val="C4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4784" y="5414676"/>
            <a:ext cx="4714806" cy="8032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0" sz="1250" i="0">
                <a:solidFill>
                  <a:srgbClr val="0D1418"/>
                </a:solidFill>
                <a:latin typeface="Helvetica Neue"/>
              </a:rPr>
              <a:t>Every model beats the </a:t>
            </a:r>
            <a:r>
              <a:rPr b="1" sz="1250" i="0">
                <a:solidFill>
                  <a:srgbClr val="0D1418"/>
                </a:solidFill>
                <a:latin typeface="Helvetica Neue"/>
              </a:rPr>
              <a:t>45.5 %</a:t>
            </a:r>
            <a:r>
              <a:rPr b="0" sz="1250" i="0">
                <a:solidFill>
                  <a:srgbClr val="0D1418"/>
                </a:solidFill>
                <a:latin typeface="Helvetica Neue"/>
              </a:rPr>
              <a:t> human voice-only ceiling: they are trained on the </a:t>
            </a:r>
            <a:r>
              <a:rPr b="0" i="1" sz="1250">
                <a:solidFill>
                  <a:srgbClr val="0D1418"/>
                </a:solidFill>
                <a:latin typeface="Helvetica Neue"/>
              </a:rPr>
              <a:t>intended</a:t>
            </a:r>
            <a:r>
              <a:rPr b="0" sz="1250" i="0">
                <a:solidFill>
                  <a:srgbClr val="0D1418"/>
                </a:solidFill>
                <a:latin typeface="Helvetica Neue"/>
              </a:rPr>
              <a:t> label and exploit acting cues listeners do not consciously decode.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" y="6236208"/>
            <a:ext cx="10984687" cy="6350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6382512"/>
            <a:ext cx="79089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900" i="0">
                <a:solidFill>
                  <a:srgbClr val="8C9BA2"/>
                </a:solidFill>
                <a:latin typeface="Helvetica Neue"/>
              </a:rPr>
              <a:t>Null-Calibrated Feature Attribution in Explainable SER  ·  CREMA-D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2478" y="6382512"/>
            <a:ext cx="30757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sz="900" i="0">
                <a:solidFill>
                  <a:srgbClr val="8C9BA2"/>
                </a:solidFill>
                <a:latin typeface="Helvetica Neue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spc="140">
                <a:solidFill>
                  <a:srgbClr val="C4462E"/>
                </a:solidFill>
                <a:latin typeface="Helvetica Neue"/>
              </a:rPr>
              <a:t>RESULTS  ·  TRAIN / SERVE MISMATCH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94944"/>
            <a:ext cx="1098468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400" i="0">
                <a:solidFill>
                  <a:srgbClr val="0D1418"/>
                </a:solidFill>
                <a:latin typeface="Helvetica Neue"/>
              </a:rPr>
              <a:t>Robustness is decided by how a model consumes a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88720"/>
            <a:ext cx="10984687" cy="9525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" y="1188720"/>
            <a:ext cx="1005840" cy="20320"/>
          </a:xfrm>
          <a:prstGeom prst="rect">
            <a:avLst/>
          </a:prstGeom>
          <a:solidFill>
            <a:srgbClr val="C4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426464"/>
            <a:ext cx="571203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950" i="0" spc="80">
                <a:solidFill>
                  <a:srgbClr val="5A6B74"/>
                </a:solidFill>
                <a:latin typeface="Helvetica Neue"/>
              </a:rPr>
              <a:t>AXIS-ALIGNED PARTITIONING  ·  MAGNITUDE-SENSITIVE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700784"/>
          <a:ext cx="5712034" cy="37380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9370"/>
                <a:gridCol w="685444"/>
                <a:gridCol w="742564"/>
                <a:gridCol w="742564"/>
                <a:gridCol w="656884"/>
                <a:gridCol w="656884"/>
                <a:gridCol w="628324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Model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ref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mp3_64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Δ MP3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aac64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Δ AAC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r-trip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LightGBM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0.591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0.586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−0.005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0.559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−0.032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0.562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XGBoost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0.582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0.586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+0.004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0.560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−0.022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0.560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HistGradientBoosting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0.573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0.559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−0.014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0.530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−0.043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0.533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Random forest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0.535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0.532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−0.003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0.522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−0.013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0.522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Extra trees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0.519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0.521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+0.002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0.512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−0.007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0.507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Decision tree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0.391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0.382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−0.009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0.367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−0.023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0.371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kNN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0.479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0.362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−0.118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0.467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−0.012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0.457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Gaussian NB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0.430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0.277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−0.152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0.437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+0.008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0.433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Linear SVM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0.584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0.405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−0.179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0.471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−0.113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0.462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MLP (scikit-learn)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0.574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0.383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−0.191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0.491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−0.083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0.494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ANN (PyTorch)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0.599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0.354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080" i="0">
                          <a:solidFill>
                            <a:srgbClr val="0D1418"/>
                          </a:solidFill>
                          <a:latin typeface="Helvetica Neue"/>
                        </a:rPr>
                        <a:t>−0.246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0.513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−0.087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0.512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LDA (shrinkage)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0.585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0.338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−0.247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0.507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−0.079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0.502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Logistic regression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0.567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0.233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−0.334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0.472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−0.095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0.470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SVM (RBF)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0.586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0.203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080" i="0">
                          <a:solidFill>
                            <a:srgbClr val="0D1418"/>
                          </a:solidFill>
                          <a:latin typeface="Helvetica Neue"/>
                        </a:rPr>
                        <a:t>−0.383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0.499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−0.087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0.497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3504" y="5449824"/>
            <a:ext cx="5712037" cy="768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b="0" sz="1000" i="0">
                <a:solidFill>
                  <a:srgbClr val="5A6B74"/>
                </a:solidFill>
                <a:latin typeface="Helvetica Neue"/>
              </a:rPr>
              <a:t>All fifteen models, trained on uncompressed audio only. Balanced accuracy on 20 held-out speakers.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09852" y="1426464"/>
            <a:ext cx="4778338" cy="4791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1100"/>
              </a:spcBef>
              <a:spcAft>
                <a:spcPts val="0"/>
              </a:spcAft>
            </a:pPr>
            <a:r>
              <a:rPr sz="878">
                <a:solidFill>
                  <a:srgbClr val="C4462E"/>
                </a:solidFill>
                <a:latin typeface="Helvetica Neue"/>
              </a:rPr>
              <a:t>•  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The split is </a:t>
            </a:r>
            <a:r>
              <a:rPr b="1" sz="1220" i="0">
                <a:solidFill>
                  <a:srgbClr val="0D1418"/>
                </a:solidFill>
                <a:latin typeface="Helvetica Neue"/>
              </a:rPr>
              <a:t>categorical, not graded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. Every tree-based model stays within ±0.014 of its clean score on MP3. Every model that consumes a descriptor as a continuous magnitude loses </a:t>
            </a:r>
            <a:r>
              <a:rPr b="1" sz="1220" i="0">
                <a:solidFill>
                  <a:srgbClr val="0D1418"/>
                </a:solidFill>
                <a:latin typeface="Helvetica Neue"/>
              </a:rPr>
              <a:t>12 to 38 points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.</a:t>
            </a:r>
          </a:p>
          <a:p>
            <a:pPr>
              <a:lnSpc>
                <a:spcPct val="116000"/>
              </a:lnSpc>
              <a:spcBef>
                <a:spcPts val="1100"/>
              </a:spcBef>
              <a:spcAft>
                <a:spcPts val="0"/>
              </a:spcAft>
            </a:pPr>
            <a:r>
              <a:rPr sz="878">
                <a:solidFill>
                  <a:srgbClr val="C4462E"/>
                </a:solidFill>
                <a:latin typeface="Helvetica Neue"/>
              </a:rPr>
              <a:t>•  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The mechanism is readable because the descriptors are named. A tree asks whether </a:t>
            </a:r>
            <a:r>
              <a:rPr sz="1098" b="0" i="0">
                <a:solidFill>
                  <a:srgbClr val="243238"/>
                </a:solidFill>
                <a:latin typeface="Menlo"/>
              </a:rPr>
              <a:t>spectral_contrast_6_mean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 exceeds a threshold near 17, and the answer is the same at 16.4 or at 46.5. A kernel model multiplies that </a:t>
            </a:r>
            <a:r>
              <a:rPr b="1" sz="1220" i="0">
                <a:solidFill>
                  <a:srgbClr val="0D1418"/>
                </a:solidFill>
                <a:latin typeface="Helvetica Neue"/>
              </a:rPr>
              <a:t>38σ excursion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 straight into its decision function.</a:t>
            </a:r>
          </a:p>
          <a:p>
            <a:pPr>
              <a:lnSpc>
                <a:spcPct val="116000"/>
              </a:lnSpc>
              <a:spcBef>
                <a:spcPts val="1100"/>
              </a:spcBef>
              <a:spcAft>
                <a:spcPts val="0"/>
              </a:spcAft>
            </a:pPr>
            <a:r>
              <a:rPr sz="878">
                <a:solidFill>
                  <a:srgbClr val="C4462E"/>
                </a:solidFill>
                <a:latin typeface="Helvetica Neue"/>
              </a:rPr>
              <a:t>•  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The groups are named for the property that separates them, not for a model family: kNN computes distances and Gaussian NB per-descriptor likelihoods. What all eight share is that </a:t>
            </a:r>
            <a:r>
              <a:rPr b="1" sz="1220" i="0">
                <a:solidFill>
                  <a:srgbClr val="0D1418"/>
                </a:solidFill>
                <a:latin typeface="Helvetica Neue"/>
              </a:rPr>
              <a:t>magnitude enters continuously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.</a:t>
            </a:r>
          </a:p>
          <a:p>
            <a:pPr>
              <a:lnSpc>
                <a:spcPct val="116000"/>
              </a:lnSpc>
              <a:spcBef>
                <a:spcPts val="1100"/>
              </a:spcBef>
              <a:spcAft>
                <a:spcPts val="0"/>
              </a:spcAft>
            </a:pPr>
            <a:r>
              <a:rPr sz="878">
                <a:solidFill>
                  <a:srgbClr val="C4462E"/>
                </a:solidFill>
                <a:latin typeface="Helvetica Neue"/>
              </a:rPr>
              <a:t>•  </a:t>
            </a:r>
            <a:r>
              <a:rPr b="1" sz="1220" i="0">
                <a:solidFill>
                  <a:srgbClr val="0D1418"/>
                </a:solidFill>
                <a:latin typeface="Helvetica Neue"/>
              </a:rPr>
              <a:t>Container routing has no material effect.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 Across the fifteen models the median difference between </a:t>
            </a:r>
            <a:r>
              <a:rPr sz="1098" b="0" i="0">
                <a:solidFill>
                  <a:srgbClr val="243238"/>
                </a:solidFill>
                <a:latin typeface="Menlo"/>
              </a:rPr>
              <a:t>roundtrip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 and </a:t>
            </a:r>
            <a:r>
              <a:rPr sz="1098" b="0" i="0">
                <a:solidFill>
                  <a:srgbClr val="243238"/>
                </a:solidFill>
                <a:latin typeface="Menlo"/>
              </a:rPr>
              <a:t>mp4_aac64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 is 0.003 and the maximum 0.010 — one to two orders of magnitude below the codec effects.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09852" y="5633656"/>
            <a:ext cx="4778338" cy="584263"/>
          </a:xfrm>
          <a:prstGeom prst="roundRect">
            <a:avLst>
              <a:gd name="adj" fmla="val 3500"/>
            </a:avLst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09852" y="5633656"/>
            <a:ext cx="50292" cy="584263"/>
          </a:xfrm>
          <a:prstGeom prst="rect">
            <a:avLst/>
          </a:prstGeom>
          <a:solidFill>
            <a:srgbClr val="C4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4172" y="5633656"/>
            <a:ext cx="4275418" cy="5842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1" sz="1250" i="0">
                <a:solidFill>
                  <a:srgbClr val="0D1418"/>
                </a:solidFill>
                <a:latin typeface="Helvetica Neue"/>
              </a:rPr>
              <a:t>MP4/AAC costs everyone something and nobody very much</a:t>
            </a:r>
            <a:r>
              <a:rPr b="0" sz="1250" i="0">
                <a:solidFill>
                  <a:srgbClr val="0D1418"/>
                </a:solidFill>
                <a:latin typeface="Helvetica Neue"/>
              </a:rPr>
              <a:t> — 0.7 to 11 points regardless of family.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36208"/>
            <a:ext cx="10984687" cy="6350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6382512"/>
            <a:ext cx="79089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900" i="0">
                <a:solidFill>
                  <a:srgbClr val="8C9BA2"/>
                </a:solidFill>
                <a:latin typeface="Helvetica Neue"/>
              </a:rPr>
              <a:t>Null-Calibrated Feature Attribution in Explainable SER  ·  CREMA-D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2478" y="6382512"/>
            <a:ext cx="30757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sz="900" i="0">
                <a:solidFill>
                  <a:srgbClr val="8C9BA2"/>
                </a:solidFill>
                <a:latin typeface="Helvetica Neue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spc="140">
                <a:solidFill>
                  <a:srgbClr val="C4462E"/>
                </a:solidFill>
                <a:latin typeface="Helvetica Neue"/>
              </a:rPr>
              <a:t>RESULTS  ·  THE COLLAPSE, OPENED BY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94944"/>
            <a:ext cx="1098468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400" i="0">
                <a:solidFill>
                  <a:srgbClr val="0D1418"/>
                </a:solidFill>
                <a:latin typeface="Helvetica Neue"/>
              </a:rPr>
              <a:t>Balanced accuracy is arithmetically unable to show what actually failed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88720"/>
            <a:ext cx="10984687" cy="9525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" y="1188720"/>
            <a:ext cx="1005840" cy="20320"/>
          </a:xfrm>
          <a:prstGeom prst="rect">
            <a:avLst/>
          </a:prstGeom>
          <a:solidFill>
            <a:srgbClr val="C4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426464"/>
            <a:ext cx="604157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00" i="0" spc="120">
                <a:solidFill>
                  <a:srgbClr val="C4462E"/>
                </a:solidFill>
                <a:latin typeface="Helvetica Neue"/>
              </a:rPr>
              <a:t>CLIPS THE NETWORK PREDICTS INTO EACH CLASS, OF 1,640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700784"/>
          <a:ext cx="6041575" cy="14447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1"/>
                <a:gridCol w="724989"/>
                <a:gridCol w="724989"/>
                <a:gridCol w="724989"/>
                <a:gridCol w="724989"/>
                <a:gridCol w="724989"/>
                <a:gridCol w="724989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Condition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ANG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DIS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FEA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HAP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NEU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SAD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ref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299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221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322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253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248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297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mp3_64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375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200" i="0">
                          <a:solidFill>
                            <a:srgbClr val="0D1418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200" i="0">
                          <a:solidFill>
                            <a:srgbClr val="0D1418"/>
                          </a:solidFill>
                          <a:latin typeface="Helvetica Neue"/>
                        </a:rPr>
                        <a:t>934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331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200" i="0">
                          <a:solidFill>
                            <a:srgbClr val="0D1418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200" i="0">
                          <a:solidFill>
                            <a:srgbClr val="0D1418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mp4_aac64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319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432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315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292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84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198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roundtrip_wav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293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441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311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308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82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205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3504" y="3236976"/>
            <a:ext cx="604157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00" i="0" spc="120">
                <a:solidFill>
                  <a:srgbClr val="C4462E"/>
                </a:solidFill>
                <a:latin typeface="Helvetica Neue"/>
              </a:rPr>
              <a:t>PER-CLASS F₁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3504" y="3511296"/>
          <a:ext cx="6041575" cy="14447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1"/>
                <a:gridCol w="724989"/>
                <a:gridCol w="724989"/>
                <a:gridCol w="724989"/>
                <a:gridCol w="724989"/>
                <a:gridCol w="724989"/>
                <a:gridCol w="724989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Condition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ANG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DIS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FEA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HAP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NEU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SAD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ref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0.770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0.467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0.555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0.567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0.611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0.607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mp3_64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0.660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200" i="0">
                          <a:solidFill>
                            <a:srgbClr val="0D1418"/>
                          </a:solidFill>
                          <a:latin typeface="Helvetica Neue"/>
                        </a:rPr>
                        <a:t>0.000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0.407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0.429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200" i="0">
                          <a:solidFill>
                            <a:srgbClr val="0D1418"/>
                          </a:solidFill>
                          <a:latin typeface="Helvetica Neue"/>
                        </a:rPr>
                        <a:t>0.000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200" i="0">
                          <a:solidFill>
                            <a:srgbClr val="0D1418"/>
                          </a:solidFill>
                          <a:latin typeface="Helvetica Neue"/>
                        </a:rPr>
                        <a:t>0.000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mp4_aac64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0.718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0.416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0.555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0.538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0.340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0.481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roundtrip_wav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0.705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0.422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0.562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0.531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0.342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200" i="0">
                          <a:solidFill>
                            <a:srgbClr val="243238"/>
                          </a:solidFill>
                          <a:latin typeface="Helvetica Neue"/>
                        </a:rPr>
                        <a:t>0.495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084469" y="1426464"/>
            <a:ext cx="4503721" cy="4791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1000"/>
              </a:spcBef>
              <a:spcAft>
                <a:spcPts val="0"/>
              </a:spcAft>
            </a:pPr>
            <a:r>
              <a:rPr sz="864">
                <a:solidFill>
                  <a:srgbClr val="C4462E"/>
                </a:solidFill>
                <a:latin typeface="Helvetica Neue"/>
              </a:rPr>
              <a:t>•  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Under MP3 the network </a:t>
            </a:r>
            <a:r>
              <a:rPr b="1" sz="1200" i="0">
                <a:solidFill>
                  <a:srgbClr val="0D1418"/>
                </a:solidFill>
                <a:latin typeface="Helvetica Neue"/>
              </a:rPr>
              <a:t>never predicts disgust, neutrality or sadness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. Not rarely — never: zero predictions across all 1,640 test clips. What survives is a three-way classifier that routes </a:t>
            </a:r>
            <a:r>
              <a:rPr b="1" sz="1200" i="0">
                <a:solidFill>
                  <a:srgbClr val="0D1418"/>
                </a:solidFill>
                <a:latin typeface="Helvetica Neue"/>
              </a:rPr>
              <a:t>934 clips, 57 % of the test set, into fear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.</a:t>
            </a:r>
          </a:p>
          <a:p>
            <a:pPr>
              <a:lnSpc>
                <a:spcPct val="116000"/>
              </a:lnSpc>
              <a:spcBef>
                <a:spcPts val="1000"/>
              </a:spcBef>
              <a:spcAft>
                <a:spcPts val="0"/>
              </a:spcAft>
            </a:pPr>
            <a:r>
              <a:rPr sz="864">
                <a:solidFill>
                  <a:srgbClr val="C4462E"/>
                </a:solidFill>
                <a:latin typeface="Helvetica Neue"/>
              </a:rPr>
              <a:t>•  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The arithmetic that hides this is worth stating. Three of six per-class recalls are zero by construction, so the highest score this degenerate model could reach is </a:t>
            </a:r>
            <a:r>
              <a:rPr b="1" sz="1200" i="0">
                <a:solidFill>
                  <a:srgbClr val="0D1418"/>
                </a:solidFill>
                <a:latin typeface="Helvetica Neue"/>
              </a:rPr>
              <a:t>0.500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 even with perfect recall on the classes it still emits. It reaches 0.354 of that — which reads as moderate degradation rather than structural failure.</a:t>
            </a:r>
          </a:p>
          <a:p>
            <a:pPr>
              <a:lnSpc>
                <a:spcPct val="116000"/>
              </a:lnSpc>
              <a:spcBef>
                <a:spcPts val="1000"/>
              </a:spcBef>
              <a:spcAft>
                <a:spcPts val="0"/>
              </a:spcAft>
            </a:pPr>
            <a:r>
              <a:rPr sz="864">
                <a:solidFill>
                  <a:srgbClr val="C4462E"/>
                </a:solidFill>
                <a:latin typeface="Helvetica Neue"/>
              </a:rPr>
              <a:t>•  </a:t>
            </a:r>
            <a:r>
              <a:rPr b="1" sz="1200" i="0">
                <a:solidFill>
                  <a:srgbClr val="0D1418"/>
                </a:solidFill>
                <a:latin typeface="Helvetica Neue"/>
              </a:rPr>
              <a:t>Macro F₁ is the more honest instrument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 and falls 0.596 → 0.249; top-2 accuracy falls 0.805 → 0.477.</a:t>
            </a:r>
          </a:p>
          <a:p>
            <a:pPr>
              <a:lnSpc>
                <a:spcPct val="116000"/>
              </a:lnSpc>
              <a:spcBef>
                <a:spcPts val="1000"/>
              </a:spcBef>
              <a:spcAft>
                <a:spcPts val="0"/>
              </a:spcAft>
            </a:pPr>
            <a:r>
              <a:rPr sz="864">
                <a:solidFill>
                  <a:srgbClr val="C4462E"/>
                </a:solidFill>
                <a:latin typeface="Helvetica Neue"/>
              </a:rPr>
              <a:t>•  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AAC shows the same mechanism mildly, which is what makes it a mechanism and not an artefact of one extreme setting: neutrality nearly vanishes (248 → 84 predictions, F₁ 0.611 → 0.340) and disgust absorbs the displaced mass (221 → 432). The container control reproduces it to within a few clips per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5559552"/>
            <a:ext cx="10984687" cy="658368"/>
          </a:xfrm>
          <a:prstGeom prst="roundRect">
            <a:avLst>
              <a:gd name="adj" fmla="val 3500"/>
            </a:avLst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5559552"/>
            <a:ext cx="50292" cy="658368"/>
          </a:xfrm>
          <a:prstGeom prst="rect">
            <a:avLst/>
          </a:prstGeom>
          <a:solidFill>
            <a:srgbClr val="C4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5559552"/>
            <a:ext cx="1048176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0" sz="1350" i="0">
                <a:solidFill>
                  <a:srgbClr val="0D1418"/>
                </a:solidFill>
                <a:latin typeface="Helvetica Neue"/>
              </a:rPr>
              <a:t>A monitor watching balanced accuracy alone records a serious but ordinary degradation. A monitor watching the </a:t>
            </a:r>
            <a:r>
              <a:rPr b="1" sz="1350" i="0">
                <a:solidFill>
                  <a:srgbClr val="0D1418"/>
                </a:solidFill>
                <a:latin typeface="Helvetica Neue"/>
              </a:rPr>
              <a:t>predicted-class histogram</a:t>
            </a:r>
            <a:r>
              <a:rPr b="0" sz="1350" i="0">
                <a:solidFill>
                  <a:srgbClr val="0D1418"/>
                </a:solidFill>
                <a:latin typeface="Helvetica Neue"/>
              </a:rPr>
              <a:t> — which costs nothing to compute — sees half the label space disappear.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6236208"/>
            <a:ext cx="10984687" cy="6350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6382512"/>
            <a:ext cx="79089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900" i="0">
                <a:solidFill>
                  <a:srgbClr val="8C9BA2"/>
                </a:solidFill>
                <a:latin typeface="Helvetica Neue"/>
              </a:rPr>
              <a:t>Null-Calibrated Feature Attribution in Explainable SER  ·  CREMA-D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2478" y="6382512"/>
            <a:ext cx="30757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sz="900" i="0">
                <a:solidFill>
                  <a:srgbClr val="8C9BA2"/>
                </a:solidFill>
                <a:latin typeface="Helvetica Neue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spc="140">
                <a:solidFill>
                  <a:srgbClr val="C4462E"/>
                </a:solidFill>
                <a:latin typeface="Helvetica Neue"/>
              </a:rPr>
              <a:t>RESULTS  ·  MATCHED-FORMAT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94944"/>
            <a:ext cx="1098468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400" i="0">
                <a:solidFill>
                  <a:srgbClr val="0D1418"/>
                </a:solidFill>
                <a:latin typeface="Helvetica Neue"/>
              </a:rPr>
              <a:t>The codec does not remove the affective information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88720"/>
            <a:ext cx="10984687" cy="9525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" y="1188720"/>
            <a:ext cx="1005840" cy="20320"/>
          </a:xfrm>
          <a:prstGeom prst="rect">
            <a:avLst/>
          </a:prstGeom>
          <a:solidFill>
            <a:srgbClr val="C4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426464"/>
            <a:ext cx="52177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950" i="0" spc="80">
                <a:solidFill>
                  <a:srgbClr val="5A6B74"/>
                </a:solidFill>
                <a:latin typeface="Helvetica Neue"/>
              </a:rPr>
              <a:t>BALANCED ACCURACY WHEN FITTED AND EVALUATED IN THE SAME CONDITION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700784"/>
          <a:ext cx="5217723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9672"/>
                <a:gridCol w="730481"/>
                <a:gridCol w="730481"/>
                <a:gridCol w="730481"/>
                <a:gridCol w="730481"/>
                <a:gridCol w="626127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Model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WAV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MP3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AAC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r-trip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range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LightGBM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0.591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0.583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0.582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0.585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0.008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SVM (RBF)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0.586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50" i="0">
                          <a:solidFill>
                            <a:srgbClr val="0D1418"/>
                          </a:solidFill>
                          <a:latin typeface="Helvetica Neue"/>
                        </a:rPr>
                        <a:t>0.589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0.572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0.572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0.017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LDA (shrinkage)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0.585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0.586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0.579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0.584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0.007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MLP (scikit-learn)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0.574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0.566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0.569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0.558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0.017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Logistic regression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0.567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0.563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0.570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0.567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0.008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Random forest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0.526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0.519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0.524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0.523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0.007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Decision tree (d = 12)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0.408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0.379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0.398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0.369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0.039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Decision tree (d = 3)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0.407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0.408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0.389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0.389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0.019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3504" y="4315968"/>
            <a:ext cx="173924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2700" i="0">
                <a:solidFill>
                  <a:srgbClr val="3F8F5B"/>
                </a:solidFill>
                <a:latin typeface="Helvetica Neue"/>
              </a:rPr>
              <a:t>+38.6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4761738"/>
            <a:ext cx="173924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b="0" sz="1050" i="0">
                <a:solidFill>
                  <a:srgbClr val="5A6B74"/>
                </a:solidFill>
                <a:latin typeface="Helvetica Neue"/>
              </a:rPr>
              <a:t>points recovered</a:t>
            </a:r>
          </a:p>
          <a:p>
            <a:pPr algn="ctr">
              <a:lnSpc>
                <a:spcPct val="112000"/>
              </a:lnSpc>
            </a:pPr>
            <a:r>
              <a:rPr b="0" sz="1050" i="0">
                <a:solidFill>
                  <a:srgbClr val="5A6B74"/>
                </a:solidFill>
                <a:latin typeface="Helvetica Neue"/>
              </a:rPr>
              <a:t>by the RBF-SVM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2746" y="4315968"/>
            <a:ext cx="173924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2700" i="0">
                <a:solidFill>
                  <a:srgbClr val="3F8F5B"/>
                </a:solidFill>
                <a:latin typeface="Helvetica Neue"/>
              </a:rPr>
              <a:t>+33.0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2746" y="4761738"/>
            <a:ext cx="173924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b="0" sz="1050" i="0">
                <a:solidFill>
                  <a:srgbClr val="5A6B74"/>
                </a:solidFill>
                <a:latin typeface="Helvetica Neue"/>
              </a:rPr>
              <a:t>logistic</a:t>
            </a:r>
          </a:p>
          <a:p>
            <a:pPr algn="ctr">
              <a:lnSpc>
                <a:spcPct val="112000"/>
              </a:lnSpc>
            </a:pPr>
            <a:r>
              <a:rPr b="0" sz="1050" i="0">
                <a:solidFill>
                  <a:srgbClr val="5A6B74"/>
                </a:solidFill>
                <a:latin typeface="Helvetica Neue"/>
              </a:rPr>
              <a:t>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1988" y="4315968"/>
            <a:ext cx="173924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2700" i="0">
                <a:solidFill>
                  <a:srgbClr val="3F8F5B"/>
                </a:solidFill>
                <a:latin typeface="Helvetica Neue"/>
              </a:rPr>
              <a:t>+24.8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1988" y="4761738"/>
            <a:ext cx="173924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b="0" sz="1050" i="0">
                <a:solidFill>
                  <a:srgbClr val="5A6B74"/>
                </a:solidFill>
                <a:latin typeface="Helvetica Neue"/>
              </a:rPr>
              <a:t>LDA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464" y="1426464"/>
            <a:ext cx="5217726" cy="4791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1100"/>
              </a:spcBef>
              <a:spcAft>
                <a:spcPts val="0"/>
              </a:spcAft>
            </a:pPr>
            <a:r>
              <a:rPr sz="878">
                <a:solidFill>
                  <a:srgbClr val="3F8F5B"/>
                </a:solidFill>
                <a:latin typeface="Helvetica Neue"/>
              </a:rPr>
              <a:t>•  </a:t>
            </a:r>
            <a:r>
              <a:rPr b="1" sz="1220" i="0">
                <a:solidFill>
                  <a:srgbClr val="0D1418"/>
                </a:solidFill>
                <a:latin typeface="Helvetica Neue"/>
              </a:rPr>
              <a:t>The codec does not remove the information.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 The RBF-SVM scores 0.589 on MP3 when it is </a:t>
            </a:r>
            <a:r>
              <a:rPr b="0" i="1" sz="1220">
                <a:solidFill>
                  <a:srgbClr val="243238"/>
                </a:solidFill>
                <a:latin typeface="Helvetica Neue"/>
              </a:rPr>
              <a:t>trained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 on MP3, against 0.586 on clean audio — a recovery of 38.6 points over its mismatched 0.203. If 64 kbit/s MP3 destroyed the acoustic correlates of emotion, no model fitted on MP3 could recover them.</a:t>
            </a:r>
          </a:p>
          <a:p>
            <a:pPr>
              <a:lnSpc>
                <a:spcPct val="116000"/>
              </a:lnSpc>
              <a:spcBef>
                <a:spcPts val="1100"/>
              </a:spcBef>
              <a:spcAft>
                <a:spcPts val="0"/>
              </a:spcAft>
            </a:pPr>
            <a:r>
              <a:rPr sz="878">
                <a:solidFill>
                  <a:srgbClr val="3F8F5B"/>
                </a:solidFill>
                <a:latin typeface="Helvetica Neue"/>
              </a:rPr>
              <a:t>•  </a:t>
            </a:r>
            <a:r>
              <a:rPr b="1" sz="1220" i="0">
                <a:solidFill>
                  <a:srgbClr val="0D1418"/>
                </a:solidFill>
                <a:latin typeface="Helvetica Neue"/>
              </a:rPr>
              <a:t>No model has a spread greater than 0.039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 across the four conditions. The catastrophic cross-format column measures an artefact of deployment practice, not a property of the codec.</a:t>
            </a:r>
          </a:p>
          <a:p>
            <a:pPr>
              <a:lnSpc>
                <a:spcPct val="116000"/>
              </a:lnSpc>
              <a:spcBef>
                <a:spcPts val="1100"/>
              </a:spcBef>
              <a:spcAft>
                <a:spcPts val="0"/>
              </a:spcAft>
            </a:pPr>
            <a:r>
              <a:rPr sz="878">
                <a:solidFill>
                  <a:srgbClr val="3F8F5B"/>
                </a:solidFill>
                <a:latin typeface="Helvetica Neue"/>
              </a:rPr>
              <a:t>•  </a:t>
            </a:r>
            <a:r>
              <a:rPr b="1" sz="1220" i="0">
                <a:solidFill>
                  <a:srgbClr val="0D1418"/>
                </a:solidFill>
                <a:latin typeface="Helvetica Neue"/>
              </a:rPr>
              <a:t>The tree family's advantage exists only under mismatch.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 Under matched training LightGBM leads the RBF-SVM by 0.008 on clean audio and trails it by 0.006 on MP3.</a:t>
            </a:r>
          </a:p>
          <a:p>
            <a:pPr>
              <a:lnSpc>
                <a:spcPct val="116000"/>
              </a:lnSpc>
              <a:spcBef>
                <a:spcPts val="1100"/>
              </a:spcBef>
              <a:spcAft>
                <a:spcPts val="0"/>
              </a:spcAft>
            </a:pPr>
            <a:r>
              <a:rPr sz="878">
                <a:solidFill>
                  <a:srgbClr val="3F8F5B"/>
                </a:solidFill>
                <a:latin typeface="Helvetica Neue"/>
              </a:rPr>
              <a:t>•  </a:t>
            </a:r>
            <a:r>
              <a:rPr b="1" sz="1220" i="0">
                <a:solidFill>
                  <a:srgbClr val="0D1418"/>
                </a:solidFill>
                <a:latin typeface="Helvetica Neue"/>
              </a:rPr>
              <a:t>The fix is format-specific, not a general immunisation.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 An RBF-SVM trained on </a:t>
            </a:r>
            <a:r>
              <a:rPr sz="1098" b="0" i="0">
                <a:solidFill>
                  <a:srgbClr val="243238"/>
                </a:solidFill>
                <a:latin typeface="Menlo"/>
              </a:rPr>
              <a:t>mp4_aac64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 and served MP3 falls to 0.167 — exactly chance. Matched training protects against the codec it saw and no other, which is why the descriptor-level repair is the more practical remedy when the delivery format is unknown in advance.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" y="6236208"/>
            <a:ext cx="10984687" cy="6350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6382512"/>
            <a:ext cx="79089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900" i="0">
                <a:solidFill>
                  <a:srgbClr val="8C9BA2"/>
                </a:solidFill>
                <a:latin typeface="Helvetica Neue"/>
              </a:rPr>
              <a:t>Null-Calibrated Feature Attribution in Explainable SER  ·  CREMA-D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2478" y="6382512"/>
            <a:ext cx="30757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sz="900" i="0">
                <a:solidFill>
                  <a:srgbClr val="8C9BA2"/>
                </a:solidFill>
                <a:latin typeface="Helvetica Neue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spc="140">
                <a:solidFill>
                  <a:srgbClr val="C4462E"/>
                </a:solidFill>
                <a:latin typeface="Helvetica Neue"/>
              </a:rPr>
              <a:t>RESULTS  ·  TREE STRUCTURE AS A READABLE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94944"/>
            <a:ext cx="1098468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400" i="0">
                <a:solidFill>
                  <a:srgbClr val="0D1418"/>
                </a:solidFill>
                <a:latin typeface="Helvetica Neue"/>
              </a:rPr>
              <a:t>The same root question in every condition, then a substitution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88720"/>
            <a:ext cx="10984687" cy="9525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" y="1188720"/>
            <a:ext cx="1005840" cy="20320"/>
          </a:xfrm>
          <a:prstGeom prst="rect">
            <a:avLst/>
          </a:prstGeom>
          <a:solidFill>
            <a:srgbClr val="C4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tr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668358"/>
            <a:ext cx="5492343" cy="40150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70464" y="1426464"/>
            <a:ext cx="52177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950" i="0" spc="80">
                <a:solidFill>
                  <a:srgbClr val="5A6B74"/>
                </a:solidFill>
                <a:latin typeface="Helvetica Neue"/>
              </a:rPr>
              <a:t>ROOT  (H = 2.5850 BITS)  ·  THEN DEPTH 1, BRANCH 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70464" y="1700784"/>
          <a:ext cx="5217724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0963"/>
                <a:gridCol w="1982735"/>
                <a:gridCol w="939190"/>
                <a:gridCol w="834836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Condition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Descriptor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Threshold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IG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ref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prosody_intensity_std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8.2184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0.3090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mp3_64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prosody_intensity_std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8.2210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0.3090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mp4_aac64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prosody_intensity_std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8.3241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0.3064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roundtrip_wav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prosody_intensity_std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8.3241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0.3064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ref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mfcc_d1_00_std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3.9965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0.1415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mp3_64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mfcc_d1_00_std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4.0175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0.1398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mp4_aac64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1080" i="0">
                          <a:solidFill>
                            <a:srgbClr val="0D1418"/>
                          </a:solidFill>
                          <a:latin typeface="Helvetica Neue"/>
                        </a:rPr>
                        <a:t>mfcc_00_iqr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60.5853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0.1408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roundtrip_wav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1080" i="0">
                          <a:solidFill>
                            <a:srgbClr val="0D1418"/>
                          </a:solidFill>
                          <a:latin typeface="Helvetica Neue"/>
                        </a:rPr>
                        <a:t>mfcc_00_iqr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60.5802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80" i="0">
                          <a:solidFill>
                            <a:srgbClr val="243238"/>
                          </a:solidFill>
                          <a:latin typeface="Helvetica Neue"/>
                        </a:rPr>
                        <a:t>0.1408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70464" y="4059936"/>
            <a:ext cx="5217726" cy="2157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763">
                <a:solidFill>
                  <a:srgbClr val="C4462E"/>
                </a:solidFill>
                <a:latin typeface="Helvetica Neue"/>
              </a:rPr>
              <a:t>•  </a:t>
            </a:r>
            <a:r>
              <a:rPr b="1" sz="1060" i="0">
                <a:solidFill>
                  <a:srgbClr val="0D1418"/>
                </a:solidFill>
                <a:latin typeface="Helvetica Neue"/>
              </a:rPr>
              <a:t>The primary evidence does not change</a:t>
            </a:r>
            <a:r>
              <a:rPr b="0" sz="1060" i="0">
                <a:solidFill>
                  <a:srgbClr val="243238"/>
                </a:solidFill>
                <a:latin typeface="Helvetica Neue"/>
              </a:rPr>
              <a:t>, and the threshold moves in step with the mechanism. MP3 shifts it by 0.03 %, AAC by 1.29 %: AAC priming adds 32.68 ms of near-silent lead-in to every clip, raising the dispersion of the intensity contour, and the tree compensates.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763">
                <a:solidFill>
                  <a:srgbClr val="C4462E"/>
                </a:solidFill>
                <a:latin typeface="Helvetica Neue"/>
              </a:rPr>
              <a:t>•  </a:t>
            </a:r>
            <a:r>
              <a:rPr b="1" sz="1060" i="0">
                <a:solidFill>
                  <a:srgbClr val="0D1418"/>
                </a:solidFill>
                <a:latin typeface="Helvetica Neue"/>
              </a:rPr>
              <a:t>The trees diverge at depth 1, under AAC and not under MP3.</a:t>
            </a:r>
            <a:r>
              <a:rPr b="0" sz="1060" i="0">
                <a:solidFill>
                  <a:srgbClr val="243238"/>
                </a:solidFill>
                <a:latin typeface="Helvetica Neue"/>
              </a:rPr>
              <a:t> WAV and MP3 ask about </a:t>
            </a:r>
            <a:r>
              <a:rPr sz="953" b="0" i="0">
                <a:solidFill>
                  <a:srgbClr val="243238"/>
                </a:solidFill>
                <a:latin typeface="Menlo"/>
              </a:rPr>
              <a:t>mfcc_d1_00_std</a:t>
            </a:r>
            <a:r>
              <a:rPr b="0" sz="1060" i="0">
                <a:solidFill>
                  <a:srgbClr val="243238"/>
                </a:solidFill>
                <a:latin typeface="Helvetica Neue"/>
              </a:rPr>
              <a:t>, a </a:t>
            </a:r>
            <a:r>
              <a:rPr b="0" i="1" sz="1060">
                <a:solidFill>
                  <a:srgbClr val="243238"/>
                </a:solidFill>
                <a:latin typeface="Helvetica Neue"/>
              </a:rPr>
              <a:t>temporal derivative</a:t>
            </a:r>
            <a:r>
              <a:rPr b="0" sz="1060" i="0">
                <a:solidFill>
                  <a:srgbClr val="243238"/>
                </a:solidFill>
                <a:latin typeface="Helvetica Neue"/>
              </a:rPr>
              <a:t>; AAC abandons it for </a:t>
            </a:r>
            <a:r>
              <a:rPr sz="953" b="0" i="0">
                <a:solidFill>
                  <a:srgbClr val="243238"/>
                </a:solidFill>
                <a:latin typeface="Menlo"/>
              </a:rPr>
              <a:t>mfcc_00_iqr</a:t>
            </a:r>
            <a:r>
              <a:rPr b="0" sz="1060" i="0">
                <a:solidFill>
                  <a:srgbClr val="243238"/>
                </a:solidFill>
                <a:latin typeface="Helvetica Neue"/>
              </a:rPr>
              <a:t>, a </a:t>
            </a:r>
            <a:r>
              <a:rPr b="0" i="1" sz="1060">
                <a:solidFill>
                  <a:srgbClr val="243238"/>
                </a:solidFill>
                <a:latin typeface="Helvetica Neue"/>
              </a:rPr>
              <a:t>static</a:t>
            </a:r>
            <a:r>
              <a:rPr b="0" sz="1060" i="0">
                <a:solidFill>
                  <a:srgbClr val="243238"/>
                </a:solidFill>
                <a:latin typeface="Helvetica Neue"/>
              </a:rPr>
              <a:t> dispersion measure of the same coefficient, at 0.1408 bits against 0.1415 — exactly what a frame-alignment perturbation should do.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763">
                <a:solidFill>
                  <a:srgbClr val="C4462E"/>
                </a:solidFill>
                <a:latin typeface="Helvetica Neue"/>
              </a:rPr>
              <a:t>•  </a:t>
            </a:r>
            <a:r>
              <a:rPr b="1" sz="1060" i="0">
                <a:solidFill>
                  <a:srgbClr val="0D1418"/>
                </a:solidFill>
                <a:latin typeface="Helvetica Neue"/>
              </a:rPr>
              <a:t>The container control reproduces structurally.</a:t>
            </a:r>
            <a:r>
              <a:rPr b="0" sz="1060" i="0">
                <a:solidFill>
                  <a:srgbClr val="243238"/>
                </a:solidFill>
                <a:latin typeface="Helvetica Neue"/>
              </a:rPr>
              <a:t> </a:t>
            </a:r>
            <a:r>
              <a:rPr sz="953" b="0" i="0">
                <a:solidFill>
                  <a:srgbClr val="243238"/>
                </a:solidFill>
                <a:latin typeface="Menlo"/>
              </a:rPr>
              <a:t>mp4_aac64</a:t>
            </a:r>
            <a:r>
              <a:rPr b="0" sz="1060" i="0">
                <a:solidFill>
                  <a:srgbClr val="243238"/>
                </a:solidFill>
                <a:latin typeface="Helvetica Neue"/>
              </a:rPr>
              <a:t> and </a:t>
            </a:r>
            <a:r>
              <a:rPr sz="953" b="0" i="0">
                <a:solidFill>
                  <a:srgbClr val="243238"/>
                </a:solidFill>
                <a:latin typeface="Menlo"/>
              </a:rPr>
              <a:t>roundtrip_wav</a:t>
            </a:r>
            <a:r>
              <a:rPr b="0" sz="1060" i="0">
                <a:solidFill>
                  <a:srgbClr val="243238"/>
                </a:solidFill>
                <a:latin typeface="Helvetica Neue"/>
              </a:rPr>
              <a:t> select identical descriptors at all seven nodes.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6236208"/>
            <a:ext cx="10984687" cy="6350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6382512"/>
            <a:ext cx="79089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900" i="0">
                <a:solidFill>
                  <a:srgbClr val="8C9BA2"/>
                </a:solidFill>
                <a:latin typeface="Helvetica Neue"/>
              </a:rPr>
              <a:t>Null-Calibrated Feature Attribution in Explainable SER  ·  CREMA-D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12478" y="6382512"/>
            <a:ext cx="30757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sz="900" i="0">
                <a:solidFill>
                  <a:srgbClr val="8C9BA2"/>
                </a:solidFill>
                <a:latin typeface="Helvetica Neue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spc="140">
                <a:solidFill>
                  <a:srgbClr val="C4462E"/>
                </a:solidFill>
                <a:latin typeface="Helvetica Neue"/>
              </a:rPr>
              <a:t>RESULTS  ·  THE ENTROPY CALCULATION THROUGH THE WHOLE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94944"/>
            <a:ext cx="1098468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400" i="0">
                <a:solidFill>
                  <a:srgbClr val="0D1418"/>
                </a:solidFill>
                <a:latin typeface="Helvetica Neue"/>
              </a:rPr>
              <a:t>Structure is lost with depth. The information budget is not.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88720"/>
            <a:ext cx="10984687" cy="9525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" y="1188720"/>
            <a:ext cx="1005840" cy="20320"/>
          </a:xfrm>
          <a:prstGeom prst="rect">
            <a:avLst/>
          </a:prstGeom>
          <a:solidFill>
            <a:srgbClr val="C4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426464"/>
            <a:ext cx="46135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950" i="0" spc="80">
                <a:solidFill>
                  <a:srgbClr val="5A6B74"/>
                </a:solidFill>
                <a:latin typeface="Helvetica Neue"/>
              </a:rPr>
              <a:t>DESCRIPTOR AGREEMENT AT PATH-ALIGNED NODES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700784"/>
          <a:ext cx="4613564" cy="15819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0884"/>
                <a:gridCol w="461356"/>
                <a:gridCol w="461356"/>
                <a:gridCol w="461356"/>
                <a:gridCol w="461356"/>
                <a:gridCol w="553628"/>
                <a:gridCol w="553628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Comparison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d0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d1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d2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d3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d4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d5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Tie-breaking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1/1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2/2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4/4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8/8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16/16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29/30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Empty container re-wrap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1/1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2/2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4/4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8/8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11/16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12/23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MP3 @ 64k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1/1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2/2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4/4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4/8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5/16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4/27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MP4/AAC @ 64k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1/1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1/2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2/4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0/8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1/16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0/24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Roundtrip WAV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1/1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1/2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2/4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0/8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0/16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0/23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3504" y="3328416"/>
            <a:ext cx="4613568" cy="2889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b="0" sz="950" i="0">
                <a:solidFill>
                  <a:srgbClr val="5A6B74"/>
                </a:solidFill>
                <a:latin typeface="Helvetica Neue"/>
              </a:rPr>
              <a:t>Rows above the rule carry no coding information. Cells give the number of path-aligned nodes selecting the same descriptor, of those internal in both trees.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3547872"/>
            <a:ext cx="4613568" cy="2670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763">
                <a:solidFill>
                  <a:srgbClr val="C4462E"/>
                </a:solidFill>
                <a:latin typeface="Helvetica Neue"/>
              </a:rPr>
              <a:t>•  </a:t>
            </a:r>
            <a:r>
              <a:rPr b="0" sz="1060" i="0">
                <a:solidFill>
                  <a:srgbClr val="243238"/>
                </a:solidFill>
                <a:latin typeface="Helvetica Neue"/>
              </a:rPr>
              <a:t>Trees grown to </a:t>
            </a:r>
            <a:r>
              <a:rPr b="1" sz="1060" i="0">
                <a:solidFill>
                  <a:srgbClr val="0D1418"/>
                </a:solidFill>
                <a:latin typeface="Helvetica Neue"/>
              </a:rPr>
              <a:t>depth 6</a:t>
            </a:r>
            <a:r>
              <a:rPr b="0" sz="1060" i="0">
                <a:solidFill>
                  <a:srgbClr val="243238"/>
                </a:solidFill>
                <a:latin typeface="Helvetica Neue"/>
              </a:rPr>
              <a:t> per condition and aligned on the </a:t>
            </a:r>
            <a:r>
              <a:rPr b="1" sz="1060" i="0">
                <a:solidFill>
                  <a:srgbClr val="0D1418"/>
                </a:solidFill>
                <a:latin typeface="Helvetica Neue"/>
              </a:rPr>
              <a:t>path</a:t>
            </a:r>
            <a:r>
              <a:rPr b="0" sz="1060" i="0">
                <a:solidFill>
                  <a:srgbClr val="243238"/>
                </a:solidFill>
                <a:latin typeface="Helvetica Neue"/>
              </a:rPr>
              <a:t> from the root — the only identifier that means the same thing in two trees fitted on different data.</a:t>
            </a:r>
          </a:p>
          <a:p>
            <a:pPr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763">
                <a:solidFill>
                  <a:srgbClr val="C4462E"/>
                </a:solidFill>
                <a:latin typeface="Helvetica Neue"/>
              </a:rPr>
              <a:t>•  </a:t>
            </a:r>
            <a:r>
              <a:rPr b="1" sz="1060" i="0">
                <a:solidFill>
                  <a:srgbClr val="0D1418"/>
                </a:solidFill>
                <a:latin typeface="Helvetica Neue"/>
              </a:rPr>
              <a:t>Refitting on identical audio</a:t>
            </a:r>
            <a:r>
              <a:rPr b="0" sz="1060" i="0">
                <a:solidFill>
                  <a:srgbClr val="243238"/>
                </a:solidFill>
                <a:latin typeface="Helvetica Neue"/>
              </a:rPr>
              <a:t> leaves every node to depth 4 untouched, and an </a:t>
            </a:r>
            <a:r>
              <a:rPr b="1" sz="1060" i="0">
                <a:solidFill>
                  <a:srgbClr val="0D1418"/>
                </a:solidFill>
                <a:latin typeface="Helvetica Neue"/>
              </a:rPr>
              <a:t>informationally empty re-wrap costs three levels</a:t>
            </a:r>
            <a:r>
              <a:rPr b="0" sz="1060" i="0">
                <a:solidFill>
                  <a:srgbClr val="243238"/>
                </a:solidFill>
                <a:latin typeface="Helvetica Neue"/>
              </a:rPr>
              <a:t>: exact to depth 3, then 69 % at depth 4.</a:t>
            </a:r>
          </a:p>
          <a:p>
            <a:pPr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763">
                <a:solidFill>
                  <a:srgbClr val="C4462E"/>
                </a:solidFill>
                <a:latin typeface="Helvetica Neue"/>
              </a:rPr>
              <a:t>•  </a:t>
            </a:r>
            <a:r>
              <a:rPr b="1" sz="1060" i="0">
                <a:solidFill>
                  <a:srgbClr val="0D1418"/>
                </a:solidFill>
                <a:latin typeface="Helvetica Neue"/>
              </a:rPr>
              <a:t>Both codecs fall below that floor</a:t>
            </a:r>
            <a:r>
              <a:rPr b="0" sz="1060" i="0">
                <a:solidFill>
                  <a:srgbClr val="243238"/>
                </a:solidFill>
                <a:latin typeface="Helvetica Neue"/>
              </a:rPr>
              <a:t>, in the order the mechanisms predict: MP3 to depth 2, AAC to depth 0. Over 20 paired draws every gap is significant (p ≤ 3.5 × 10⁻⁴).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6613" y="1426464"/>
            <a:ext cx="285601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950" i="0" spc="80">
                <a:solidFill>
                  <a:srgbClr val="5A6B74"/>
                </a:solidFill>
                <a:latin typeface="Helvetica Neue"/>
              </a:rPr>
              <a:t>INFORMATION GAIN BY DEPTH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546613" y="1700784"/>
          <a:ext cx="2856015" cy="19970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1203"/>
                <a:gridCol w="571203"/>
                <a:gridCol w="571203"/>
                <a:gridCol w="571203"/>
                <a:gridCol w="571203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Depth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ref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mp3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aac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r-trip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0.3090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0.3090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0.3064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0.3064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0.1556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0.1546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0.1462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0.1462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0.0938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0.0935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0.0939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0.0941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0.0832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0.0842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0.0863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0.0860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0.1047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0.1027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0.1036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0.1031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5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0.1292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0.1275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0.1226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0.1220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total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1" sz="1019" i="0">
                          <a:solidFill>
                            <a:srgbClr val="0D1418"/>
                          </a:solidFill>
                          <a:latin typeface="Helvetica Neue"/>
                        </a:rPr>
                        <a:t>0.8754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1" sz="1019" i="0">
                          <a:solidFill>
                            <a:srgbClr val="0D1418"/>
                          </a:solidFill>
                          <a:latin typeface="Helvetica Neue"/>
                        </a:rPr>
                        <a:t>0.8714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1" sz="1019" i="0">
                          <a:solidFill>
                            <a:srgbClr val="0D1418"/>
                          </a:solidFill>
                          <a:latin typeface="Helvetica Neue"/>
                        </a:rPr>
                        <a:t>0.8590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1" sz="1019" i="0">
                          <a:solidFill>
                            <a:srgbClr val="0D1418"/>
                          </a:solidFill>
                          <a:latin typeface="Helvetica Neue"/>
                        </a:rPr>
                        <a:t>0.8578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546613" y="3749040"/>
            <a:ext cx="285601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950" i="0" spc="80">
                <a:solidFill>
                  <a:srgbClr val="5A6B74"/>
                </a:solidFill>
                <a:latin typeface="Helvetica Neue"/>
              </a:rPr>
              <a:t>MEAN NODE ENTROPY H̄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46613" y="4023360"/>
          <a:ext cx="2856015" cy="10021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1203"/>
                <a:gridCol w="571203"/>
                <a:gridCol w="571203"/>
                <a:gridCol w="571203"/>
                <a:gridCol w="571203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Depth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ref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mp3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aac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r-trip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2.5850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2.5850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2.5850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2.5850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2.0516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2.0506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2.0708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2.0708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5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1.7245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1.7882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1.7458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sz="1019" i="0">
                          <a:solidFill>
                            <a:srgbClr val="243238"/>
                          </a:solidFill>
                          <a:latin typeface="Helvetica Neue"/>
                        </a:rPr>
                        <a:t>1.7369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677249" y="1426464"/>
            <a:ext cx="2910942" cy="4791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792">
                <a:solidFill>
                  <a:srgbClr val="2E6F9E"/>
                </a:solidFill>
                <a:latin typeface="Helvetica Neue"/>
              </a:rPr>
              <a:t>•  </a:t>
            </a:r>
            <a:r>
              <a:rPr b="0" sz="1100" i="0">
                <a:solidFill>
                  <a:srgbClr val="243238"/>
                </a:solidFill>
                <a:latin typeface="Helvetica Neue"/>
              </a:rPr>
              <a:t>Sample-weighted, so the depths are commensurable and sum to the total. Entropy falls along </a:t>
            </a:r>
            <a:r>
              <a:rPr b="1" sz="1100" i="0">
                <a:solidFill>
                  <a:srgbClr val="0D1418"/>
                </a:solidFill>
                <a:latin typeface="Helvetica Neue"/>
              </a:rPr>
              <a:t>almost the same trajectory in every condition</a:t>
            </a:r>
            <a:r>
              <a:rPr b="0" sz="1100" i="0">
                <a:solidFill>
                  <a:srgbClr val="243238"/>
                </a:solidFill>
                <a:latin typeface="Helvetica Neue"/>
              </a:rPr>
              <a:t>: no per-depth mean differs from the uncompressed value by more than 0.064 bits.</a:t>
            </a:r>
          </a:p>
          <a:p>
            <a:pPr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792">
                <a:solidFill>
                  <a:srgbClr val="2E6F9E"/>
                </a:solidFill>
                <a:latin typeface="Helvetica Neue"/>
              </a:rPr>
              <a:t>•  </a:t>
            </a:r>
            <a:r>
              <a:rPr b="0" sz="1100" i="0">
                <a:solidFill>
                  <a:srgbClr val="243238"/>
                </a:solidFill>
                <a:latin typeface="Helvetica Neue"/>
              </a:rPr>
              <a:t>Over six levels WAV extracts </a:t>
            </a:r>
            <a:r>
              <a:rPr b="1" sz="1100" i="0">
                <a:solidFill>
                  <a:srgbClr val="0D1418"/>
                </a:solidFill>
                <a:latin typeface="Helvetica Neue"/>
              </a:rPr>
              <a:t>0.8754</a:t>
            </a:r>
            <a:r>
              <a:rPr b="0" sz="1100" i="0">
                <a:solidFill>
                  <a:srgbClr val="243238"/>
                </a:solidFill>
                <a:latin typeface="Helvetica Neue"/>
              </a:rPr>
              <a:t> of the 2.5850 bits available, MP3 </a:t>
            </a:r>
            <a:r>
              <a:rPr b="1" sz="1100" i="0">
                <a:solidFill>
                  <a:srgbClr val="0D1418"/>
                </a:solidFill>
                <a:latin typeface="Helvetica Neue"/>
              </a:rPr>
              <a:t>0.8714</a:t>
            </a:r>
            <a:r>
              <a:rPr b="0" sz="1100" i="0">
                <a:solidFill>
                  <a:srgbClr val="243238"/>
                </a:solidFill>
                <a:latin typeface="Helvetica Neue"/>
              </a:rPr>
              <a:t> (−0.46 %) and AAC </a:t>
            </a:r>
            <a:r>
              <a:rPr b="1" sz="1100" i="0">
                <a:solidFill>
                  <a:srgbClr val="0D1418"/>
                </a:solidFill>
                <a:latin typeface="Helvetica Neue"/>
              </a:rPr>
              <a:t>0.8590</a:t>
            </a:r>
            <a:r>
              <a:rPr b="0" sz="1100" i="0">
                <a:solidFill>
                  <a:srgbClr val="243238"/>
                </a:solidFill>
                <a:latin typeface="Helvetica Neue"/>
              </a:rPr>
              <a:t> (−1.87 %).</a:t>
            </a:r>
          </a:p>
          <a:p>
            <a:pPr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792">
                <a:solidFill>
                  <a:srgbClr val="2E6F9E"/>
                </a:solidFill>
                <a:latin typeface="Helvetica Neue"/>
              </a:rPr>
              <a:t>•  </a:t>
            </a:r>
            <a:r>
              <a:rPr b="0" sz="1100" i="0">
                <a:solidFill>
                  <a:srgbClr val="243238"/>
                </a:solidFill>
                <a:latin typeface="Helvetica Neue"/>
              </a:rPr>
              <a:t>The empty re-wrap extracts the </a:t>
            </a:r>
            <a:r>
              <a:rPr b="0" i="1" sz="1100">
                <a:solidFill>
                  <a:srgbClr val="243238"/>
                </a:solidFill>
                <a:latin typeface="Helvetica Neue"/>
              </a:rPr>
              <a:t>lowest</a:t>
            </a:r>
            <a:r>
              <a:rPr b="0" sz="1100" i="0">
                <a:solidFill>
                  <a:srgbClr val="243238"/>
                </a:solidFill>
                <a:latin typeface="Helvetica Neue"/>
              </a:rPr>
              <a:t> total of the four while carrying no coding information at all — a difference of this size sits inside the floor.</a:t>
            </a:r>
          </a:p>
          <a:p>
            <a:pPr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792">
                <a:solidFill>
                  <a:srgbClr val="2E6F9E"/>
                </a:solidFill>
                <a:latin typeface="Helvetica Neue"/>
              </a:rPr>
              <a:t>•  </a:t>
            </a:r>
            <a:r>
              <a:rPr b="0" sz="1100" i="0">
                <a:solidFill>
                  <a:srgbClr val="243238"/>
                </a:solidFill>
                <a:latin typeface="Helvetica Neue"/>
              </a:rPr>
              <a:t>One caution. Gain per depth bottoms out at depth 3 and then </a:t>
            </a:r>
            <a:r>
              <a:rPr b="1" sz="1100" i="0">
                <a:solidFill>
                  <a:srgbClr val="0D1418"/>
                </a:solidFill>
                <a:latin typeface="Helvetica Neue"/>
              </a:rPr>
              <a:t>rises again</a:t>
            </a:r>
            <a:r>
              <a:rPr b="0" sz="1100" i="0">
                <a:solidFill>
                  <a:srgbClr val="243238"/>
                </a:solidFill>
                <a:latin typeface="Helvetica Neue"/>
              </a:rPr>
              <a:t>, 0.0832 → 0.1292 — the signature of </a:t>
            </a:r>
            <a:r>
              <a:rPr b="1" sz="1100" i="0">
                <a:solidFill>
                  <a:srgbClr val="0D1418"/>
                </a:solidFill>
                <a:latin typeface="Helvetica Neue"/>
              </a:rPr>
              <a:t>fitting noise</a:t>
            </a:r>
            <a:r>
              <a:rPr b="0" sz="1100" i="0">
                <a:solidFill>
                  <a:srgbClr val="243238"/>
                </a:solidFill>
                <a:latin typeface="Helvetica Neue"/>
              </a:rPr>
              <a:t>, not of resolved structure. Much of the deep tree should not be read as evidence about emotion at 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5559552"/>
            <a:ext cx="10984687" cy="658368"/>
          </a:xfrm>
          <a:prstGeom prst="roundRect">
            <a:avLst>
              <a:gd name="adj" fmla="val 3500"/>
            </a:avLst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" y="5559552"/>
            <a:ext cx="50292" cy="658368"/>
          </a:xfrm>
          <a:prstGeom prst="rect">
            <a:avLst/>
          </a:prstGeom>
          <a:solidFill>
            <a:srgbClr val="C4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5559552"/>
            <a:ext cx="1048176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0" sz="1350" i="0">
                <a:solidFill>
                  <a:srgbClr val="0D1418"/>
                </a:solidFill>
                <a:latin typeface="Helvetica Neue"/>
              </a:rPr>
              <a:t>Below depth 2 the AAC tree shares essentially no structure with the reference, and still resolves the same label uncertainty to within two parts in a hundred. </a:t>
            </a:r>
            <a:r>
              <a:rPr b="1" sz="1350" i="0">
                <a:solidFill>
                  <a:srgbClr val="0D1418"/>
                </a:solidFill>
                <a:latin typeface="Helvetica Neue"/>
              </a:rPr>
              <a:t>Coding changes which question the model asks, and leaves the answer worth the same.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" y="6236208"/>
            <a:ext cx="10984687" cy="6350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6382512"/>
            <a:ext cx="79089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900" i="0">
                <a:solidFill>
                  <a:srgbClr val="8C9BA2"/>
                </a:solidFill>
                <a:latin typeface="Helvetica Neue"/>
              </a:rPr>
              <a:t>Null-Calibrated Feature Attribution in Explainable SER  ·  CREMA-D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2478" y="6382512"/>
            <a:ext cx="30757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sz="900" i="0">
                <a:solidFill>
                  <a:srgbClr val="8C9BA2"/>
                </a:solidFill>
                <a:latin typeface="Helvetica Neue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spc="140">
                <a:solidFill>
                  <a:srgbClr val="C4462E"/>
                </a:solidFill>
                <a:latin typeface="Helvetica Neue"/>
              </a:rPr>
              <a:t>RESULTS  ·  NULL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94944"/>
            <a:ext cx="1098468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400" i="0">
                <a:solidFill>
                  <a:srgbClr val="0D1418"/>
                </a:solidFill>
                <a:latin typeface="Helvetica Neue"/>
              </a:rPr>
              <a:t>Most of the apparent codec effect is generic sensitivity to perturbation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88720"/>
            <a:ext cx="10984687" cy="9525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" y="1188720"/>
            <a:ext cx="1005840" cy="20320"/>
          </a:xfrm>
          <a:prstGeom prst="rect">
            <a:avLst/>
          </a:prstGeom>
          <a:solidFill>
            <a:srgbClr val="C4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426464"/>
            <a:ext cx="50529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950" i="0" spc="80">
                <a:solidFill>
                  <a:srgbClr val="5A6B74"/>
                </a:solidFill>
                <a:latin typeface="Helvetica Neue"/>
              </a:rPr>
              <a:t>PAIRED WITHIN-DRAW: 20 DRAWS OF 51 OF 60 TRAINING ACTORS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700784"/>
          <a:ext cx="5052954" cy="1691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22241"/>
                <a:gridCol w="1010591"/>
                <a:gridCol w="859002"/>
                <a:gridCol w="106112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top-25 kept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ρ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p vs. floor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floor  (same audio, refit)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50" i="0">
                          <a:solidFill>
                            <a:srgbClr val="0D1418"/>
                          </a:solidFill>
                          <a:latin typeface="Helvetica Neue"/>
                        </a:rPr>
                        <a:t>24.15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+0.958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n/a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Container re-wrap (empty)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15.80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+0.196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8.1 × 10⁻⁵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MP3 @ 64k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12.55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−0.068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8.4 × 10⁻⁵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MP4/AAC @ 64k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10.65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−0.137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8.3 × 10⁻⁵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Roundtrip WAV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9.95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−0.126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50" i="0">
                          <a:solidFill>
                            <a:srgbClr val="243238"/>
                          </a:solidFill>
                          <a:latin typeface="Helvetica Neue"/>
                        </a:rPr>
                        <a:t>7.9 × 10⁻⁵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8" name="Picture 7" descr="fig_null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45" y="3749040"/>
            <a:ext cx="5019873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" y="5733288"/>
            <a:ext cx="50529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950" i="1">
                <a:solidFill>
                  <a:srgbClr val="5A6B74"/>
                </a:solidFill>
                <a:latin typeface="Helvetica Neue"/>
              </a:rPr>
              <a:t>(a) made marginally, the actor-resampling floor swallows every codec effect  ·  (b) floor and effect inside the same draw.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1426464"/>
            <a:ext cx="5492343" cy="4791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1000"/>
              </a:spcBef>
              <a:spcAft>
                <a:spcPts val="0"/>
              </a:spcAft>
            </a:pPr>
            <a:r>
              <a:rPr sz="864">
                <a:solidFill>
                  <a:srgbClr val="C4462E"/>
                </a:solidFill>
                <a:latin typeface="Helvetica Neue"/>
              </a:rPr>
              <a:t>•  </a:t>
            </a:r>
            <a:r>
              <a:rPr b="1" sz="1200" i="0">
                <a:solidFill>
                  <a:srgbClr val="0D1418"/>
                </a:solidFill>
                <a:latin typeface="Helvetica Neue"/>
              </a:rPr>
              <a:t>The estimator is reproducible.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 With the data fixed and only tie-breaking varied, the tree keeps 24.15 of its 25 top descriptors at ρ = 0.958. Whatever else here is fragile, the fitting procedure is not.</a:t>
            </a:r>
          </a:p>
          <a:p>
            <a:pPr>
              <a:lnSpc>
                <a:spcPct val="116000"/>
              </a:lnSpc>
              <a:spcBef>
                <a:spcPts val="1000"/>
              </a:spcBef>
              <a:spcAft>
                <a:spcPts val="0"/>
              </a:spcAft>
            </a:pPr>
            <a:r>
              <a:rPr sz="864">
                <a:solidFill>
                  <a:srgbClr val="C4462E"/>
                </a:solidFill>
                <a:latin typeface="Helvetica Neue"/>
              </a:rPr>
              <a:t>•  </a:t>
            </a:r>
            <a:r>
              <a:rPr b="1" sz="1200" i="0">
                <a:solidFill>
                  <a:srgbClr val="0D1418"/>
                </a:solidFill>
                <a:latin typeface="Helvetica Neue"/>
              </a:rPr>
              <a:t>An informationally empty perturbation is expensive.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 The container re-wrap is the same AAC bitstream, decoded the same way, differing by a single int16 requantisation whose median effect is 7.6 × 10⁻⁵ standardised units. It still costs </a:t>
            </a:r>
            <a:r>
              <a:rPr b="1" sz="1200" i="0">
                <a:solidFill>
                  <a:srgbClr val="0D1418"/>
                </a:solidFill>
                <a:latin typeface="Helvetica Neue"/>
              </a:rPr>
              <a:t>8.35 of the 25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 top descriptors. A ranking that turns over by a third under a manipulation carrying no information cannot be read as a description of what the model needs.</a:t>
            </a:r>
          </a:p>
          <a:p>
            <a:pPr>
              <a:lnSpc>
                <a:spcPct val="116000"/>
              </a:lnSpc>
              <a:spcBef>
                <a:spcPts val="1000"/>
              </a:spcBef>
              <a:spcAft>
                <a:spcPts val="0"/>
              </a:spcAft>
            </a:pPr>
            <a:r>
              <a:rPr sz="864">
                <a:solidFill>
                  <a:srgbClr val="C4462E"/>
                </a:solidFill>
                <a:latin typeface="Helvetica Neue"/>
              </a:rPr>
              <a:t>•  </a:t>
            </a:r>
            <a:r>
              <a:rPr b="1" sz="1200" i="0">
                <a:solidFill>
                  <a:srgbClr val="0D1418"/>
                </a:solidFill>
                <a:latin typeface="Helvetica Neue"/>
              </a:rPr>
              <a:t>The codec effect is real, and about two fifths of its apparent size.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 Measured against the empty floor, MP3 keeps 12.55 and AAC 10.65. Of the 13.5 descriptors AAC appears to displace, 8.35 are generic sensitivity and only </a:t>
            </a:r>
            <a:r>
              <a:rPr b="1" sz="1200" i="0">
                <a:solidFill>
                  <a:srgbClr val="0D1418"/>
                </a:solidFill>
                <a:latin typeface="Helvetica Neue"/>
              </a:rPr>
              <a:t>5.15 are the codec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. Reporting the raw figure over-attributes by a factor of </a:t>
            </a:r>
            <a:r>
              <a:rPr b="1" sz="1200" i="0">
                <a:solidFill>
                  <a:srgbClr val="0D1418"/>
                </a:solidFill>
                <a:latin typeface="Helvetica Neue"/>
              </a:rPr>
              <a:t>2.6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.</a:t>
            </a:r>
          </a:p>
          <a:p>
            <a:pPr>
              <a:lnSpc>
                <a:spcPct val="116000"/>
              </a:lnSpc>
              <a:spcBef>
                <a:spcPts val="1000"/>
              </a:spcBef>
              <a:spcAft>
                <a:spcPts val="0"/>
              </a:spcAft>
            </a:pPr>
            <a:r>
              <a:rPr sz="864">
                <a:solidFill>
                  <a:srgbClr val="C4462E"/>
                </a:solidFill>
                <a:latin typeface="Helvetica Neue"/>
              </a:rPr>
              <a:t>•  </a:t>
            </a:r>
            <a:r>
              <a:rPr b="1" sz="1200" i="0">
                <a:solidFill>
                  <a:srgbClr val="0D1418"/>
                </a:solidFill>
                <a:latin typeface="Helvetica Neue"/>
              </a:rPr>
              <a:t>AAC displaces more of the ranking than MP3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 — the reverse of the accuracy ordering, where MP3 is catastrophic and AAC mild. Coding that perturbs every temporal derivative slightly reorganises a tree more than coding that destroys one band the tree can threshold around.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" y="6236208"/>
            <a:ext cx="10984687" cy="6350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6382512"/>
            <a:ext cx="79089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900" i="0">
                <a:solidFill>
                  <a:srgbClr val="8C9BA2"/>
                </a:solidFill>
                <a:latin typeface="Helvetica Neue"/>
              </a:rPr>
              <a:t>Null-Calibrated Feature Attribution in Explainable SER  ·  CREMA-D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2478" y="6382512"/>
            <a:ext cx="30757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sz="900" i="0">
                <a:solidFill>
                  <a:srgbClr val="8C9BA2"/>
                </a:solidFill>
                <a:latin typeface="Helvetica Neue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spc="140">
                <a:solidFill>
                  <a:srgbClr val="C4462E"/>
                </a:solidFill>
                <a:latin typeface="Helvetica Neue"/>
              </a:rPr>
              <a:t>RESULTS  ·  EXPLAINABILITY, WHAT HOLDS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94944"/>
            <a:ext cx="1098468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400" i="0">
                <a:solidFill>
                  <a:srgbClr val="0D1418"/>
                </a:solidFill>
                <a:latin typeface="Helvetica Neue"/>
              </a:rPr>
              <a:t>Five model families and four attribution algorithms return one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88720"/>
            <a:ext cx="10984687" cy="9525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" y="1188720"/>
            <a:ext cx="1005840" cy="20320"/>
          </a:xfrm>
          <a:prstGeom prst="rect">
            <a:avLst/>
          </a:prstGeom>
          <a:solidFill>
            <a:srgbClr val="C4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426464"/>
            <a:ext cx="5217726" cy="4791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1100"/>
              </a:spcBef>
              <a:spcAft>
                <a:spcPts val="0"/>
              </a:spcAft>
            </a:pPr>
            <a:r>
              <a:rPr sz="878">
                <a:solidFill>
                  <a:srgbClr val="3F8F5B"/>
                </a:solidFill>
                <a:latin typeface="Helvetica Neue"/>
              </a:rPr>
              <a:t>•  </a:t>
            </a:r>
            <a:r>
              <a:rPr b="1" sz="1220" i="0">
                <a:solidFill>
                  <a:srgbClr val="0D1418"/>
                </a:solidFill>
                <a:latin typeface="Helvetica Neue"/>
              </a:rPr>
              <a:t>The convergence.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 The top SHAP descriptors for XGBoost and LightGBM are identical in their first five: </a:t>
            </a:r>
            <a:r>
              <a:rPr sz="1098" b="0" i="0">
                <a:solidFill>
                  <a:srgbClr val="243238"/>
                </a:solidFill>
                <a:latin typeface="Menlo"/>
              </a:rPr>
              <a:t>mfcc_d1_00_std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, </a:t>
            </a:r>
            <a:r>
              <a:rPr sz="1098" b="0" i="0">
                <a:solidFill>
                  <a:srgbClr val="243238"/>
                </a:solidFill>
                <a:latin typeface="Menlo"/>
              </a:rPr>
              <a:t>mfcc_d2_00_std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, </a:t>
            </a:r>
            <a:r>
              <a:rPr sz="1098" b="0" i="0">
                <a:solidFill>
                  <a:srgbClr val="243238"/>
                </a:solidFill>
                <a:latin typeface="Menlo"/>
              </a:rPr>
              <a:t>duration_s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, </a:t>
            </a:r>
            <a:r>
              <a:rPr sz="1098" b="0" i="0">
                <a:solidFill>
                  <a:srgbClr val="243238"/>
                </a:solidFill>
                <a:latin typeface="Menlo"/>
              </a:rPr>
              <a:t>prosody_intensity_std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, </a:t>
            </a:r>
            <a:r>
              <a:rPr sz="1098" b="0" i="0">
                <a:solidFill>
                  <a:srgbClr val="243238"/>
                </a:solidFill>
                <a:latin typeface="Menlo"/>
              </a:rPr>
              <a:t>mfcc_00_std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. The decision tree leads with </a:t>
            </a:r>
            <a:r>
              <a:rPr sz="1098" b="0" i="0">
                <a:solidFill>
                  <a:srgbClr val="243238"/>
                </a:solidFill>
                <a:latin typeface="Menlo"/>
              </a:rPr>
              <a:t>prosody_intensity_std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, matching its own root split. All six gradient methods on the network return the same leaders.</a:t>
            </a:r>
          </a:p>
          <a:p>
            <a:pPr>
              <a:lnSpc>
                <a:spcPct val="116000"/>
              </a:lnSpc>
              <a:spcBef>
                <a:spcPts val="1100"/>
              </a:spcBef>
              <a:spcAft>
                <a:spcPts val="0"/>
              </a:spcAft>
            </a:pPr>
            <a:r>
              <a:rPr sz="878">
                <a:solidFill>
                  <a:srgbClr val="3F8F5B"/>
                </a:solidFill>
                <a:latin typeface="Helvetica Neue"/>
              </a:rPr>
              <a:t>•  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The two leading descriptors are the standard deviations of the </a:t>
            </a:r>
            <a:r>
              <a:rPr b="1" sz="1220" i="0">
                <a:solidFill>
                  <a:srgbClr val="0D1418"/>
                </a:solidFill>
                <a:latin typeface="Helvetica Neue"/>
              </a:rPr>
              <a:t>first and second derivative of MFCC-0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 — how variable the rate of change of overall loudness is, which is a direct formalisation of </a:t>
            </a:r>
            <a:r>
              <a:rPr b="1" sz="1220" i="0">
                <a:solidFill>
                  <a:srgbClr val="0D1418"/>
                </a:solidFill>
                <a:latin typeface="Helvetica Neue"/>
              </a:rPr>
              <a:t>vocal agitation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.</a:t>
            </a:r>
          </a:p>
          <a:p>
            <a:pPr>
              <a:lnSpc>
                <a:spcPct val="116000"/>
              </a:lnSpc>
              <a:spcBef>
                <a:spcPts val="1100"/>
              </a:spcBef>
              <a:spcAft>
                <a:spcPts val="0"/>
              </a:spcAft>
            </a:pPr>
            <a:r>
              <a:rPr sz="878">
                <a:solidFill>
                  <a:srgbClr val="3F8F5B"/>
                </a:solidFill>
                <a:latin typeface="Helvetica Neue"/>
              </a:rPr>
              <a:t>•  </a:t>
            </a:r>
            <a:r>
              <a:rPr b="1" sz="1220" i="0">
                <a:solidFill>
                  <a:srgbClr val="0D1418"/>
                </a:solidFill>
                <a:latin typeface="Helvetica Neue"/>
              </a:rPr>
              <a:t>Attribution mass is spread across families, not concentrated.</a:t>
            </a:r>
            <a:r>
              <a:rPr b="0" sz="1220" i="0">
                <a:solidFill>
                  <a:srgbClr val="243238"/>
                </a:solidFill>
                <a:latin typeface="Helvetica Neue"/>
              </a:rPr>
              <a:t> Integrated gradients gives MFCC 54.2 %, spectral 23.8 %, prosody 15.3 %, chroma 5.7 %. MFCCs hold 55 % of the columns and take 54 % of the attribution: no per-descriptor advantage. The decision tree is the outlier, leaning on prosody at 0.306.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4718304"/>
            <a:ext cx="5217726" cy="1444752"/>
          </a:xfrm>
          <a:prstGeom prst="roundRect">
            <a:avLst>
              <a:gd name="adj" fmla="val 3500"/>
            </a:avLst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" y="4718304"/>
            <a:ext cx="45720" cy="1444752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4864608"/>
            <a:ext cx="4742238" cy="13533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b="0" sz="1000" i="0">
                <a:solidFill>
                  <a:srgbClr val="3F8F5B"/>
                </a:solidFill>
                <a:latin typeface="Helvetica Neue"/>
              </a:rPr>
              <a:t>THE ROBUST SET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b="0" sz="1200" i="0">
                <a:solidFill>
                  <a:srgbClr val="243238"/>
                </a:solidFill>
                <a:latin typeface="Helvetica Neue"/>
              </a:rPr>
              <a:t>Only the descriptors that survive </a:t>
            </a:r>
            <a:r>
              <a:rPr b="1" sz="1200" i="0">
                <a:solidFill>
                  <a:srgbClr val="0D1418"/>
                </a:solidFill>
                <a:latin typeface="Helvetica Neue"/>
              </a:rPr>
              <a:t>all four independent views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 should be reported as robust. Here that set is </a:t>
            </a:r>
            <a:r>
              <a:rPr sz="1080" b="0" i="0">
                <a:solidFill>
                  <a:srgbClr val="243238"/>
                </a:solidFill>
                <a:latin typeface="Menlo"/>
              </a:rPr>
              <a:t>mfcc_d1_00_std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, </a:t>
            </a:r>
            <a:r>
              <a:rPr sz="1080" b="0" i="0">
                <a:solidFill>
                  <a:srgbClr val="243238"/>
                </a:solidFill>
                <a:latin typeface="Menlo"/>
              </a:rPr>
              <a:t>prosody_intensity_std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, </a:t>
            </a:r>
            <a:r>
              <a:rPr sz="1080" b="0" i="0">
                <a:solidFill>
                  <a:srgbClr val="243238"/>
                </a:solidFill>
                <a:latin typeface="Menlo"/>
              </a:rPr>
              <a:t>duration_s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, </a:t>
            </a:r>
            <a:r>
              <a:rPr sz="1080" b="0" i="0">
                <a:solidFill>
                  <a:srgbClr val="243238"/>
                </a:solidFill>
                <a:latin typeface="Menlo"/>
              </a:rPr>
              <a:t>prosody_cpps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 and </a:t>
            </a:r>
            <a:r>
              <a:rPr sz="1080" b="0" i="0">
                <a:solidFill>
                  <a:srgbClr val="243238"/>
                </a:solidFill>
                <a:latin typeface="Menlo"/>
              </a:rPr>
              <a:t>prosody_f0_median</a:t>
            </a:r>
            <a:r>
              <a:rPr b="0" sz="1200" i="0">
                <a:solidFill>
                  <a:srgbClr val="243238"/>
                </a:solidFill>
                <a:latin typeface="Helvetica Neue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464" y="1426464"/>
            <a:ext cx="52177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950" i="0" spc="80">
                <a:solidFill>
                  <a:srgbClr val="5A6B74"/>
                </a:solidFill>
                <a:latin typeface="Helvetica Neue"/>
              </a:rPr>
              <a:t>MOST-ATTRIBUTED DESCRIPTORS PER EMOTION  (INTEGRATED GRADIENTS)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70464" y="1700784"/>
          <a:ext cx="5217725" cy="24505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1772"/>
                <a:gridCol w="3026281"/>
                <a:gridCol w="1669672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Descriptors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Reading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ANG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mfcc_d1_00_std (0.294), mfcc_d2_00_std (0.232)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loudness dynamics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DIS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duration_s (0.285), prosody_f2_std (0.241)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timing, F₂ movement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FEA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prosody_f0_median (0.235), prosody_hnr_std (0.181)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raised, unstable pitch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HAP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duration_s (0.307), spectral_flux_std (0.247)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spectral churn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NEU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mfcc_00_skew (0.327), prosody_cpps (0.327)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steady phonation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SAD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prosody_cpps (0.154), mfcc_d2_00_std (0.149)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050" i="0">
                          <a:solidFill>
                            <a:srgbClr val="243238"/>
                          </a:solidFill>
                          <a:latin typeface="Helvetica Neue"/>
                        </a:rPr>
                        <a:t>breathiness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70464" y="4279392"/>
            <a:ext cx="5217726" cy="1938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827">
                <a:solidFill>
                  <a:srgbClr val="3F8F5B"/>
                </a:solidFill>
                <a:latin typeface="Helvetica Neue"/>
              </a:rPr>
              <a:t>•  </a:t>
            </a:r>
            <a:r>
              <a:rPr b="1" sz="1150" i="0">
                <a:solidFill>
                  <a:srgbClr val="0D1418"/>
                </a:solidFill>
                <a:latin typeface="Helvetica Neue"/>
              </a:rPr>
              <a:t>A construct-validity check, not a finding about emotion.</a:t>
            </a:r>
            <a:r>
              <a:rPr b="0" sz="1150" i="0">
                <a:solidFill>
                  <a:srgbClr val="243238"/>
                </a:solidFill>
                <a:latin typeface="Helvetica Neue"/>
              </a:rPr>
              <a:t> CPPS, the standard correlate of breathy phonation, leads for sadness; median F₀ leads for fear; F₂ movement leads for disgust — with no phonetic supervision.</a:t>
            </a:r>
          </a:p>
          <a:p>
            <a:pPr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827">
                <a:solidFill>
                  <a:srgbClr val="3F8F5B"/>
                </a:solidFill>
                <a:latin typeface="Helvetica Neue"/>
              </a:rPr>
              <a:t>•  </a:t>
            </a:r>
            <a:r>
              <a:rPr b="1" sz="1150" i="0">
                <a:solidFill>
                  <a:srgbClr val="0D1418"/>
                </a:solidFill>
                <a:latin typeface="Helvetica Neue"/>
              </a:rPr>
              <a:t>Two of these connect to the coding results.</a:t>
            </a:r>
            <a:r>
              <a:rPr b="0" sz="1150" i="0">
                <a:solidFill>
                  <a:srgbClr val="243238"/>
                </a:solidFill>
                <a:latin typeface="Helvetica Neue"/>
              </a:rPr>
              <a:t> </a:t>
            </a:r>
            <a:r>
              <a:rPr sz="1035" b="0" i="0">
                <a:solidFill>
                  <a:srgbClr val="243238"/>
                </a:solidFill>
                <a:latin typeface="Menlo"/>
              </a:rPr>
              <a:t>prosody_cpps</a:t>
            </a:r>
            <a:r>
              <a:rPr b="0" sz="1150" i="0">
                <a:solidFill>
                  <a:srgbClr val="243238"/>
                </a:solidFill>
                <a:latin typeface="Helvetica Neue"/>
              </a:rPr>
              <a:t> leads for sadness and is one of the descriptors that </a:t>
            </a:r>
            <a:r>
              <a:rPr b="0" i="1" sz="1150">
                <a:solidFill>
                  <a:srgbClr val="243238"/>
                </a:solidFill>
                <a:latin typeface="Helvetica Neue"/>
              </a:rPr>
              <a:t>leaves</a:t>
            </a:r>
            <a:r>
              <a:rPr b="0" sz="1150" i="0">
                <a:solidFill>
                  <a:srgbClr val="243238"/>
                </a:solidFill>
                <a:latin typeface="Helvetica Neue"/>
              </a:rPr>
              <a:t> the top 25 under MP3; </a:t>
            </a:r>
            <a:r>
              <a:rPr sz="1035" b="0" i="0">
                <a:solidFill>
                  <a:srgbClr val="243238"/>
                </a:solidFill>
                <a:latin typeface="Menlo"/>
              </a:rPr>
              <a:t>duration_s</a:t>
            </a:r>
            <a:r>
              <a:rPr b="0" sz="1150" i="0">
                <a:solidFill>
                  <a:srgbClr val="243238"/>
                </a:solidFill>
                <a:latin typeface="Helvetica Neue"/>
              </a:rPr>
              <a:t> leads for disgust and happiness and is what AAC priming moves by 32.68 ms. </a:t>
            </a:r>
            <a:r>
              <a:rPr b="1" sz="1150" i="0">
                <a:solidFill>
                  <a:srgbClr val="0D1418"/>
                </a:solidFill>
                <a:latin typeface="Helvetica Neue"/>
              </a:rPr>
              <a:t>The emotions whose evidence the codecs disturb are identifiable in advance from this table.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36208"/>
            <a:ext cx="10984687" cy="6350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6382512"/>
            <a:ext cx="79089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900" i="0">
                <a:solidFill>
                  <a:srgbClr val="8C9BA2"/>
                </a:solidFill>
                <a:latin typeface="Helvetica Neue"/>
              </a:rPr>
              <a:t>Null-Calibrated Feature Attribution in Explainable SER  ·  CREMA-D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2478" y="6382512"/>
            <a:ext cx="30757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sz="900" i="0">
                <a:solidFill>
                  <a:srgbClr val="8C9BA2"/>
                </a:solidFill>
                <a:latin typeface="Helvetica Neue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spc="140">
                <a:solidFill>
                  <a:srgbClr val="C4462E"/>
                </a:solidFill>
                <a:latin typeface="Helvetica Neue"/>
              </a:rPr>
              <a:t>RESULTS  ·  EXPLAINABILITY, WHAT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94944"/>
            <a:ext cx="1098468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400" i="0">
                <a:solidFill>
                  <a:srgbClr val="0D1418"/>
                </a:solidFill>
                <a:latin typeface="Helvetica Neue"/>
              </a:rPr>
              <a:t>Three negative results we report rather than smooth 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88720"/>
            <a:ext cx="10984687" cy="9525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" y="1188720"/>
            <a:ext cx="1005840" cy="20320"/>
          </a:xfrm>
          <a:prstGeom prst="rect">
            <a:avLst/>
          </a:prstGeom>
          <a:solidFill>
            <a:srgbClr val="C4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410311"/>
            <a:ext cx="4613568" cy="19525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" y="3426864"/>
            <a:ext cx="46135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950" i="1">
                <a:solidFill>
                  <a:srgbClr val="5A6B74"/>
                </a:solidFill>
                <a:latin typeface="Helvetica Neue"/>
              </a:rPr>
              <a:t>(a) post-hoc methods on the same fitted tabular model  ·  (b) the six gradient-family methods on the network.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3730752"/>
            <a:ext cx="4613568" cy="2487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784">
                <a:solidFill>
                  <a:srgbClr val="C4462E"/>
                </a:solidFill>
                <a:latin typeface="Helvetica Neue"/>
              </a:rPr>
              <a:t>•  </a:t>
            </a:r>
            <a:r>
              <a:rPr b="1" sz="1090" i="0">
                <a:solidFill>
                  <a:srgbClr val="0D1418"/>
                </a:solidFill>
                <a:latin typeface="Helvetica Neue"/>
              </a:rPr>
              <a:t>1 · The methods disagree with each other.</a:t>
            </a:r>
            <a:r>
              <a:rPr b="0" sz="1090" i="0">
                <a:solidFill>
                  <a:srgbClr val="243238"/>
                </a:solidFill>
                <a:latin typeface="Helvetica Neue"/>
              </a:rPr>
              <a:t> SHAP tracks a model's </a:t>
            </a:r>
            <a:r>
              <a:rPr b="0" i="1" sz="1090">
                <a:solidFill>
                  <a:srgbClr val="243238"/>
                </a:solidFill>
                <a:latin typeface="Helvetica Neue"/>
              </a:rPr>
              <a:t>intrinsic</a:t>
            </a:r>
            <a:r>
              <a:rPr b="0" sz="1090" i="0">
                <a:solidFill>
                  <a:srgbClr val="243238"/>
                </a:solidFill>
                <a:latin typeface="Helvetica Neue"/>
              </a:rPr>
              <a:t> importance closely for the simpler models — ρ = 0.98 for both the decision tree and logistic regression — while LIME and permutation importance are close to unrelated to it. On the decision tree, LIME and SHAP rank descriptors at </a:t>
            </a:r>
            <a:r>
              <a:rPr b="1" sz="1090" i="0">
                <a:solidFill>
                  <a:srgbClr val="0D1418"/>
                </a:solidFill>
                <a:latin typeface="Helvetica Neue"/>
              </a:rPr>
              <a:t>ρ = 0.008</a:t>
            </a:r>
            <a:r>
              <a:rPr b="0" sz="1090" i="0">
                <a:solidFill>
                  <a:srgbClr val="243238"/>
                </a:solidFill>
                <a:latin typeface="Helvetica Neue"/>
              </a:rPr>
              <a:t>, while still sharing 10 of their top 20.</a:t>
            </a:r>
          </a:p>
          <a:p>
            <a:pPr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784">
                <a:solidFill>
                  <a:srgbClr val="C4462E"/>
                </a:solidFill>
                <a:latin typeface="Helvetica Neue"/>
              </a:rPr>
              <a:t>•  </a:t>
            </a:r>
            <a:r>
              <a:rPr b="0" sz="1090" i="0">
                <a:solidFill>
                  <a:srgbClr val="243238"/>
                </a:solidFill>
                <a:latin typeface="Helvetica Neue"/>
              </a:rPr>
              <a:t>Panel (b) sharpens this rather than softening it: the six gradient-family methods agree at </a:t>
            </a:r>
            <a:r>
              <a:rPr b="1" sz="1090" i="0">
                <a:solidFill>
                  <a:srgbClr val="0D1418"/>
                </a:solidFill>
                <a:latin typeface="Helvetica Neue"/>
              </a:rPr>
              <a:t>ρ ≥ 0.94</a:t>
            </a:r>
            <a:r>
              <a:rPr b="0" sz="1090" i="0">
                <a:solidFill>
                  <a:srgbClr val="243238"/>
                </a:solidFill>
                <a:latin typeface="Helvetica Neue"/>
              </a:rPr>
              <a:t> for every pair. High agreement inside one family reflects a </a:t>
            </a:r>
            <a:r>
              <a:rPr b="1" sz="1090" i="0">
                <a:solidFill>
                  <a:srgbClr val="0D1418"/>
                </a:solidFill>
                <a:latin typeface="Helvetica Neue"/>
              </a:rPr>
              <a:t>shared mathematical lineage</a:t>
            </a:r>
            <a:r>
              <a:rPr b="0" sz="1090" i="0">
                <a:solidFill>
                  <a:srgbClr val="243238"/>
                </a:solidFill>
                <a:latin typeface="Helvetica Neue"/>
              </a:rPr>
              <a:t>, not correctness.</a:t>
            </a:r>
          </a:p>
          <a:p>
            <a:pPr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784">
                <a:solidFill>
                  <a:srgbClr val="C4462E"/>
                </a:solidFill>
                <a:latin typeface="Helvetica Neue"/>
              </a:rPr>
              <a:t>•  </a:t>
            </a:r>
            <a:r>
              <a:rPr b="0" sz="1090" i="0">
                <a:solidFill>
                  <a:srgbClr val="243238"/>
                </a:solidFill>
                <a:latin typeface="Helvetica Neue"/>
              </a:rPr>
              <a:t>A depth-4 global surrogate reproduces its target only </a:t>
            </a:r>
            <a:r>
              <a:rPr b="1" sz="1090" i="0">
                <a:solidFill>
                  <a:srgbClr val="0D1418"/>
                </a:solidFill>
                <a:latin typeface="Helvetica Neue"/>
              </a:rPr>
              <a:t>57–74 %</a:t>
            </a:r>
            <a:r>
              <a:rPr b="0" sz="1090" i="0">
                <a:solidFill>
                  <a:srgbClr val="243238"/>
                </a:solidFill>
                <a:latin typeface="Helvetica Neue"/>
              </a:rPr>
              <a:t> of the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01536" y="1408176"/>
            <a:ext cx="5986654" cy="2103120"/>
          </a:xfrm>
          <a:prstGeom prst="roundRect">
            <a:avLst>
              <a:gd name="adj" fmla="val 3500"/>
            </a:avLst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01536" y="1408176"/>
            <a:ext cx="45720" cy="2103120"/>
          </a:xfrm>
          <a:prstGeom prst="rect">
            <a:avLst/>
          </a:prstGeom>
          <a:solidFill>
            <a:srgbClr val="C4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7568" y="1554480"/>
            <a:ext cx="5511166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b="0" sz="1050" i="0">
                <a:solidFill>
                  <a:srgbClr val="C4462E"/>
                </a:solidFill>
                <a:latin typeface="Helvetica Neue"/>
              </a:rPr>
              <a:t>2 · A BLIND SPOT IN GLOBAL ATTRIBUTION METRICS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b="0" sz="1250" i="0">
                <a:solidFill>
                  <a:srgbClr val="0D1418"/>
                </a:solidFill>
                <a:latin typeface="Helvetica Neue"/>
              </a:rPr>
              <a:t>Under MP3, logistic regression keeps a </a:t>
            </a:r>
            <a:r>
              <a:rPr b="1" sz="1250" i="0">
                <a:solidFill>
                  <a:srgbClr val="0D1418"/>
                </a:solidFill>
                <a:latin typeface="Helvetica Neue"/>
              </a:rPr>
              <a:t>near-identical SHAP ranking</a:t>
            </a:r>
            <a:r>
              <a:rPr b="0" sz="1250" i="0">
                <a:solidFill>
                  <a:srgbClr val="0D1418"/>
                </a:solidFill>
                <a:latin typeface="Helvetica Neue"/>
              </a:rPr>
              <a:t> — ρ = 0.987, 22 of 25 top descriptors retained — while its balanced accuracy collapses from </a:t>
            </a:r>
            <a:r>
              <a:rPr b="1" sz="1250" i="0">
                <a:solidFill>
                  <a:srgbClr val="0D1418"/>
                </a:solidFill>
                <a:latin typeface="Helvetica Neue"/>
              </a:rPr>
              <a:t>0.567 to 0.233</a:t>
            </a:r>
            <a:r>
              <a:rPr b="0" sz="1250" i="0">
                <a:solidFill>
                  <a:srgbClr val="0D1418"/>
                </a:solidFill>
                <a:latin typeface="Helvetica Neue"/>
              </a:rPr>
              <a:t>.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b="0" sz="1140" i="0">
                <a:solidFill>
                  <a:srgbClr val="243238"/>
                </a:solidFill>
                <a:latin typeface="Helvetica Neue"/>
              </a:rPr>
              <a:t>Its coefficients did not change. Only the inputs moved out of range, and a global ranking over mean |SHAP| is largely blind to that. </a:t>
            </a:r>
            <a:r>
              <a:rPr b="1" sz="1140" i="0">
                <a:solidFill>
                  <a:srgbClr val="0D1418"/>
                </a:solidFill>
                <a:latin typeface="Helvetica Neue"/>
              </a:rPr>
              <a:t>A global attribution-stability metric can report that nothing has changed while the classifier has effectively stopped working.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1536" y="3657600"/>
            <a:ext cx="598665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i="0" spc="100">
                <a:solidFill>
                  <a:srgbClr val="C4462E"/>
                </a:solidFill>
                <a:latin typeface="Helvetica Neue"/>
              </a:rPr>
              <a:t>3 · AN ESTIMATOR THAT FAILED LOUDLY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1536" y="3931920"/>
            <a:ext cx="5986654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827">
                <a:solidFill>
                  <a:srgbClr val="C4462E"/>
                </a:solidFill>
                <a:latin typeface="Helvetica Neue"/>
              </a:rPr>
              <a:t>•  </a:t>
            </a:r>
            <a:r>
              <a:rPr b="0" sz="1150" i="0">
                <a:solidFill>
                  <a:srgbClr val="243238"/>
                </a:solidFill>
                <a:latin typeface="Helvetica Neue"/>
              </a:rPr>
              <a:t>KernelSHAP was applied to the RBF-SVM with </a:t>
            </a:r>
            <a:r>
              <a:rPr b="1" sz="1150" i="0">
                <a:solidFill>
                  <a:srgbClr val="0D1418"/>
                </a:solidFill>
                <a:latin typeface="Helvetica Neue"/>
              </a:rPr>
              <a:t>100 sampled coalitions over 436 descriptors</a:t>
            </a:r>
            <a:r>
              <a:rPr b="0" sz="1150" i="0">
                <a:solidFill>
                  <a:srgbClr val="243238"/>
                </a:solidFill>
                <a:latin typeface="Helvetica Neue"/>
              </a:rPr>
              <a:t>. It fits a weighted least-squares regression with one unknown per descriptor, so that system is rank-deficient — and it diverged. Maximum mean |SHAP| reached </a:t>
            </a:r>
            <a:r>
              <a:rPr b="1" sz="1150" i="0">
                <a:solidFill>
                  <a:srgbClr val="0D1418"/>
                </a:solidFill>
                <a:latin typeface="Helvetica Neue"/>
              </a:rPr>
              <a:t>2.1 × 10¹²</a:t>
            </a:r>
            <a:r>
              <a:rPr b="0" sz="1150" i="0">
                <a:solidFill>
                  <a:srgbClr val="243238"/>
                </a:solidFill>
                <a:latin typeface="Helvetica Neue"/>
              </a:rPr>
              <a:t> against a median of 5.3 × 10⁻⁴.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827">
                <a:solidFill>
                  <a:srgbClr val="C4462E"/>
                </a:solidFill>
                <a:latin typeface="Helvetica Neue"/>
              </a:rPr>
              <a:t>•  </a:t>
            </a:r>
            <a:r>
              <a:rPr b="0" sz="1150" i="0">
                <a:solidFill>
                  <a:srgbClr val="243238"/>
                </a:solidFill>
                <a:latin typeface="Helvetica Neue"/>
              </a:rPr>
              <a:t>The cheap tell: a well-behaved additive attribution over 7,441 clips does not assign </a:t>
            </a:r>
            <a:r>
              <a:rPr b="1" sz="1150" i="0">
                <a:solidFill>
                  <a:srgbClr val="0D1418"/>
                </a:solidFill>
                <a:latin typeface="Helvetica Neue"/>
              </a:rPr>
              <a:t>whole descriptor families exactly 0.000</a:t>
            </a:r>
            <a:r>
              <a:rPr b="0" sz="1150" i="0">
                <a:solidFill>
                  <a:srgbClr val="243238"/>
                </a:solidFill>
                <a:latin typeface="Helvetica Neue"/>
              </a:rPr>
              <a:t>.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827">
                <a:solidFill>
                  <a:srgbClr val="C4462E"/>
                </a:solidFill>
                <a:latin typeface="Helvetica Neue"/>
              </a:rPr>
              <a:t>•  </a:t>
            </a:r>
            <a:r>
              <a:rPr b="0" sz="1150" i="0">
                <a:solidFill>
                  <a:srgbClr val="243238"/>
                </a:solidFill>
                <a:latin typeface="Helvetica Neue"/>
              </a:rPr>
              <a:t>The ranking is excluded from every conclusion as an estimation artefact, and the implementation now </a:t>
            </a:r>
            <a:r>
              <a:rPr b="1" sz="1150" i="0">
                <a:solidFill>
                  <a:srgbClr val="0D1418"/>
                </a:solidFill>
                <a:latin typeface="Helvetica Neue"/>
              </a:rPr>
              <a:t>raises</a:t>
            </a:r>
            <a:r>
              <a:rPr b="0" sz="1150" i="0">
                <a:solidFill>
                  <a:srgbClr val="243238"/>
                </a:solidFill>
                <a:latin typeface="Helvetica Neue"/>
              </a:rPr>
              <a:t> when the coalition budget does not exceed the descriptor count. The SVM's trustworthy views are permutation importance and LIME, whose top descriptors reproduce the consensus.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6236208"/>
            <a:ext cx="10984687" cy="6350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6382512"/>
            <a:ext cx="79089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900" i="0">
                <a:solidFill>
                  <a:srgbClr val="8C9BA2"/>
                </a:solidFill>
                <a:latin typeface="Helvetica Neue"/>
              </a:rPr>
              <a:t>Null-Calibrated Feature Attribution in Explainable SER  ·  CREMA-D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2478" y="6382512"/>
            <a:ext cx="30757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sz="900" i="0">
                <a:solidFill>
                  <a:srgbClr val="8C9BA2"/>
                </a:solidFill>
                <a:latin typeface="Helvetica Neue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spc="140">
                <a:solidFill>
                  <a:srgbClr val="C4462E"/>
                </a:solidFill>
                <a:latin typeface="Helvetica Neue"/>
              </a:rPr>
              <a:t>RESULTS  ·  DIAGNOSIS AND REPAIR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94944"/>
            <a:ext cx="1098468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400" i="0">
                <a:solidFill>
                  <a:srgbClr val="0D1418"/>
                </a:solidFill>
                <a:latin typeface="Helvetica Neue"/>
              </a:rPr>
              <a:t>One named descriptor recovers almost the entire collapse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88720"/>
            <a:ext cx="10984687" cy="9525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" y="1188720"/>
            <a:ext cx="1005840" cy="20320"/>
          </a:xfrm>
          <a:prstGeom prst="rect">
            <a:avLst/>
          </a:prstGeom>
          <a:solidFill>
            <a:srgbClr val="C4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426464"/>
            <a:ext cx="483326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950" i="0" spc="80">
                <a:solidFill>
                  <a:srgbClr val="5A6B74"/>
                </a:solidFill>
                <a:latin typeface="Helvetica Neue"/>
              </a:rPr>
              <a:t>BALANCED ACCURACY ON MP3 AS CODEC-SHIFTED DESCRIPTORS ARE MASKED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700784"/>
          <a:ext cx="4833258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3578"/>
                <a:gridCol w="650631"/>
                <a:gridCol w="836526"/>
                <a:gridCol w="650631"/>
                <a:gridCol w="604157"/>
                <a:gridCol w="743578"/>
                <a:gridCol w="604157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Masked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SVM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Log. reg.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ANN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MLP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XGBoost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Tree</a:t>
                      </a:r>
                    </a:p>
                  </a:txBody>
                  <a:tcPr marL="50292" marR="50292" marT="16459" marB="16459" anchor="ctr">
                    <a:lnT w="13970" cap="flat">
                      <a:solidFill>
                        <a:srgbClr val="0D1418"/>
                      </a:solidFill>
                    </a:lnT>
                    <a:lnB w="9525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clean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0.586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0.567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0.599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0.574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0.582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0.391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0.203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0.233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0.354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0.383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0.586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0.382</a:t>
                      </a:r>
                    </a:p>
                  </a:txBody>
                  <a:tcPr marL="50292" marR="50292" marT="16459" marB="16459" anchor="ctr">
                    <a:lnT w="9525" cap="flat">
                      <a:solidFill>
                        <a:srgbClr val="D4DCE0"/>
                      </a:solidFill>
                    </a:lnT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0.578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0.502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0.580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0.552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0.581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0.382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0.583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0.529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0.587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0.554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0.581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0.391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0.579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0.562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1100" i="0">
                          <a:solidFill>
                            <a:srgbClr val="0D1418"/>
                          </a:solidFill>
                          <a:latin typeface="Helvetica Neue"/>
                        </a:rPr>
                        <a:t>0.595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0.565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0.580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0.391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10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0.575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0.539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0.589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0.562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0.582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0.394</a:t>
                      </a:r>
                    </a:p>
                  </a:txBody>
                  <a:tcPr marL="50292" marR="50292" marT="16459" marB="16459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80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0.551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0.435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0.574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0.523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0.564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sz="1100" i="0">
                          <a:solidFill>
                            <a:srgbClr val="243238"/>
                          </a:solidFill>
                          <a:latin typeface="Helvetica Neue"/>
                        </a:rPr>
                        <a:t>0.396</a:t>
                      </a:r>
                    </a:p>
                  </a:txBody>
                  <a:tcPr marL="50292" marR="50292" marT="16459" marB="16459" anchor="ctr">
                    <a:lnB w="13970" cap="flat">
                      <a:solidFill>
                        <a:srgbClr val="0D141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8" name="Picture 7" descr="fig_neutral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164" y="4041648"/>
            <a:ext cx="2737942" cy="21579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76153" y="1426464"/>
            <a:ext cx="5712037" cy="4791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1000"/>
              </a:spcBef>
              <a:spcAft>
                <a:spcPts val="0"/>
              </a:spcAft>
            </a:pPr>
            <a:r>
              <a:rPr sz="842">
                <a:solidFill>
                  <a:srgbClr val="3F8F5B"/>
                </a:solidFill>
                <a:latin typeface="Helvetica Neue"/>
              </a:rPr>
              <a:t>•  </a:t>
            </a:r>
            <a:r>
              <a:rPr b="0" sz="1170" i="0">
                <a:solidFill>
                  <a:srgbClr val="243238"/>
                </a:solidFill>
                <a:latin typeface="Helvetica Neue"/>
              </a:rPr>
              <a:t>Descriptors were ranked by how far each codec moves them in units of </a:t>
            </a:r>
            <a:r>
              <a:rPr b="1" sz="1170" i="0">
                <a:solidFill>
                  <a:srgbClr val="0D1418"/>
                </a:solidFill>
                <a:latin typeface="Helvetica Neue"/>
              </a:rPr>
              <a:t>training</a:t>
            </a:r>
            <a:r>
              <a:rPr b="0" sz="1170" i="0">
                <a:solidFill>
                  <a:srgbClr val="243238"/>
                </a:solidFill>
                <a:latin typeface="Helvetica Neue"/>
              </a:rPr>
              <a:t> standard deviation, then replaced progressively with training medians — in the compressed test set </a:t>
            </a:r>
            <a:r>
              <a:rPr b="1" sz="1170" i="0">
                <a:solidFill>
                  <a:srgbClr val="0D1418"/>
                </a:solidFill>
                <a:latin typeface="Helvetica Neue"/>
              </a:rPr>
              <a:t>and</a:t>
            </a:r>
            <a:r>
              <a:rPr b="0" sz="1170" i="0">
                <a:solidFill>
                  <a:srgbClr val="243238"/>
                </a:solidFill>
                <a:latin typeface="Helvetica Neue"/>
              </a:rPr>
              <a:t> the clean one.</a:t>
            </a:r>
          </a:p>
          <a:p>
            <a:pPr>
              <a:lnSpc>
                <a:spcPct val="116000"/>
              </a:lnSpc>
              <a:spcBef>
                <a:spcPts val="1000"/>
              </a:spcBef>
              <a:spcAft>
                <a:spcPts val="0"/>
              </a:spcAft>
            </a:pPr>
            <a:r>
              <a:rPr sz="842">
                <a:solidFill>
                  <a:srgbClr val="3F8F5B"/>
                </a:solidFill>
                <a:latin typeface="Helvetica Neue"/>
              </a:rPr>
              <a:t>•  </a:t>
            </a:r>
            <a:r>
              <a:rPr b="0" sz="1170" i="0">
                <a:solidFill>
                  <a:srgbClr val="243238"/>
                </a:solidFill>
                <a:latin typeface="Helvetica Neue"/>
              </a:rPr>
              <a:t>The single masked descriptor is </a:t>
            </a:r>
            <a:r>
              <a:rPr sz="1053" b="0" i="0">
                <a:solidFill>
                  <a:srgbClr val="243238"/>
                </a:solidFill>
                <a:latin typeface="Menlo"/>
              </a:rPr>
              <a:t>spectral_contrast_6_mean</a:t>
            </a:r>
            <a:r>
              <a:rPr b="0" sz="1170" i="0">
                <a:solidFill>
                  <a:srgbClr val="243238"/>
                </a:solidFill>
                <a:latin typeface="Helvetica Neue"/>
              </a:rPr>
              <a:t>. Masking it alone recovers </a:t>
            </a:r>
            <a:r>
              <a:rPr b="1" sz="1170" i="0">
                <a:solidFill>
                  <a:srgbClr val="0D1418"/>
                </a:solidFill>
                <a:latin typeface="Helvetica Neue"/>
              </a:rPr>
              <a:t>98 % of the RBF-SVM's 38.3-point loss</a:t>
            </a:r>
            <a:r>
              <a:rPr b="0" sz="1170" i="0">
                <a:solidFill>
                  <a:srgbClr val="243238"/>
                </a:solidFill>
                <a:latin typeface="Helvetica Neue"/>
              </a:rPr>
              <a:t> and </a:t>
            </a:r>
            <a:r>
              <a:rPr b="1" sz="1170" i="0">
                <a:solidFill>
                  <a:srgbClr val="0D1418"/>
                </a:solidFill>
                <a:latin typeface="Helvetica Neue"/>
              </a:rPr>
              <a:t>92 % of the network's 24.6-point loss</a:t>
            </a:r>
            <a:r>
              <a:rPr b="0" sz="1170" i="0">
                <a:solidFill>
                  <a:srgbClr val="243238"/>
                </a:solidFill>
                <a:latin typeface="Helvetica Neue"/>
              </a:rPr>
              <a:t>. Three descriptors bring logistic regression to 0.562 against its 0.567 clean score.</a:t>
            </a:r>
          </a:p>
          <a:p>
            <a:pPr>
              <a:lnSpc>
                <a:spcPct val="116000"/>
              </a:lnSpc>
              <a:spcBef>
                <a:spcPts val="1000"/>
              </a:spcBef>
              <a:spcAft>
                <a:spcPts val="0"/>
              </a:spcAft>
            </a:pPr>
            <a:r>
              <a:rPr sz="842">
                <a:solidFill>
                  <a:srgbClr val="3F8F5B"/>
                </a:solidFill>
                <a:latin typeface="Helvetica Neue"/>
              </a:rPr>
              <a:t>•  </a:t>
            </a:r>
            <a:r>
              <a:rPr b="1" sz="1170" i="0">
                <a:solidFill>
                  <a:srgbClr val="0D1418"/>
                </a:solidFill>
                <a:latin typeface="Helvetica Neue"/>
              </a:rPr>
              <a:t>Control 1.</a:t>
            </a:r>
            <a:r>
              <a:rPr b="0" sz="1170" i="0">
                <a:solidFill>
                  <a:srgbClr val="243238"/>
                </a:solidFill>
                <a:latin typeface="Helvetica Neue"/>
              </a:rPr>
              <a:t> On uncompressed audio the identical masking costs nothing out to 20 descriptors — the network's clean control sits at 0.607–0.609, marginally </a:t>
            </a:r>
            <a:r>
              <a:rPr b="0" i="1" sz="1170">
                <a:solidFill>
                  <a:srgbClr val="243238"/>
                </a:solidFill>
                <a:latin typeface="Helvetica Neue"/>
              </a:rPr>
              <a:t>above</a:t>
            </a:r>
            <a:r>
              <a:rPr b="0" sz="1170" i="0">
                <a:solidFill>
                  <a:srgbClr val="243238"/>
                </a:solidFill>
                <a:latin typeface="Helvetica Neue"/>
              </a:rPr>
              <a:t> its 0.599 baseline. These columns never carried load-bearing evidence. They were the channel through which the </a:t>
            </a:r>
            <a:r>
              <a:rPr b="1" sz="1170" i="0">
                <a:solidFill>
                  <a:srgbClr val="0D1418"/>
                </a:solidFill>
                <a:latin typeface="Helvetica Neue"/>
              </a:rPr>
              <a:t>encoder's fingerprint</a:t>
            </a:r>
            <a:r>
              <a:rPr b="0" sz="1170" i="0">
                <a:solidFill>
                  <a:srgbClr val="243238"/>
                </a:solidFill>
                <a:latin typeface="Helvetica Neue"/>
              </a:rPr>
              <a:t> entered the model.</a:t>
            </a:r>
          </a:p>
          <a:p>
            <a:pPr>
              <a:lnSpc>
                <a:spcPct val="116000"/>
              </a:lnSpc>
              <a:spcBef>
                <a:spcPts val="1000"/>
              </a:spcBef>
              <a:spcAft>
                <a:spcPts val="0"/>
              </a:spcAft>
            </a:pPr>
            <a:r>
              <a:rPr sz="842">
                <a:solidFill>
                  <a:srgbClr val="3F8F5B"/>
                </a:solidFill>
                <a:latin typeface="Helvetica Neue"/>
              </a:rPr>
              <a:t>•  </a:t>
            </a:r>
            <a:r>
              <a:rPr b="1" sz="1170" i="0">
                <a:solidFill>
                  <a:srgbClr val="0D1418"/>
                </a:solidFill>
                <a:latin typeface="Helvetica Neue"/>
              </a:rPr>
              <a:t>Control 2.</a:t>
            </a:r>
            <a:r>
              <a:rPr b="0" sz="1170" i="0">
                <a:solidFill>
                  <a:srgbClr val="243238"/>
                </a:solidFill>
                <a:latin typeface="Helvetica Neue"/>
              </a:rPr>
              <a:t> AAC behaves as its different mechanism predicts: no single descriptor dominates. The network's best recovery arrives at 10 masked (0.513 → 0.560), the SVM's at 40 (0.499 → 0.542).</a:t>
            </a:r>
          </a:p>
          <a:p>
            <a:pPr>
              <a:lnSpc>
                <a:spcPct val="116000"/>
              </a:lnSpc>
              <a:spcBef>
                <a:spcPts val="1000"/>
              </a:spcBef>
              <a:spcAft>
                <a:spcPts val="0"/>
              </a:spcAft>
            </a:pPr>
            <a:r>
              <a:rPr sz="842">
                <a:solidFill>
                  <a:srgbClr val="3F8F5B"/>
                </a:solidFill>
                <a:latin typeface="Helvetica Neue"/>
              </a:rPr>
              <a:t>•  </a:t>
            </a:r>
            <a:r>
              <a:rPr b="0" sz="1170" i="0">
                <a:solidFill>
                  <a:srgbClr val="243238"/>
                </a:solidFill>
                <a:latin typeface="Helvetica Neue"/>
              </a:rPr>
              <a:t>The diagnosis is </a:t>
            </a:r>
            <a:r>
              <a:rPr b="1" sz="1170" i="0">
                <a:solidFill>
                  <a:srgbClr val="0D1418"/>
                </a:solidFill>
                <a:latin typeface="Helvetica Neue"/>
              </a:rPr>
              <a:t>covariate shift on a few identifiable descriptors</a:t>
            </a:r>
            <a:r>
              <a:rPr b="0" sz="1170" i="0">
                <a:solidFill>
                  <a:srgbClr val="243238"/>
                </a:solidFill>
                <a:latin typeface="Helvetica Neue"/>
              </a:rPr>
              <a:t>, not a loss of emotional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76153" y="5414676"/>
            <a:ext cx="5712037" cy="803243"/>
          </a:xfrm>
          <a:prstGeom prst="roundRect">
            <a:avLst>
              <a:gd name="adj" fmla="val 3500"/>
            </a:avLst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76153" y="5414676"/>
            <a:ext cx="50292" cy="803243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0473" y="5414676"/>
            <a:ext cx="5209117" cy="8032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0" sz="1250" i="0">
                <a:solidFill>
                  <a:srgbClr val="0D1418"/>
                </a:solidFill>
                <a:latin typeface="Helvetica Neue"/>
              </a:rPr>
              <a:t>This repair has no counterpart in a system whose front end is learned: identifying the contaminated channel needed attribution over units that carry acoustic meaning.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36208"/>
            <a:ext cx="10984687" cy="6350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6382512"/>
            <a:ext cx="79089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900" i="0">
                <a:solidFill>
                  <a:srgbClr val="8C9BA2"/>
                </a:solidFill>
                <a:latin typeface="Helvetica Neue"/>
              </a:rPr>
              <a:t>Null-Calibrated Feature Attribution in Explainable SER  ·  CREMA-D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2478" y="6382512"/>
            <a:ext cx="30757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sz="900" i="0">
                <a:solidFill>
                  <a:srgbClr val="8C9BA2"/>
                </a:solidFill>
                <a:latin typeface="Helvetica Neue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spc="140">
                <a:solidFill>
                  <a:srgbClr val="3F8F5B"/>
                </a:solidFill>
                <a:latin typeface="Helvetica Neue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94944"/>
            <a:ext cx="1098468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400" i="0">
                <a:solidFill>
                  <a:srgbClr val="0D1418"/>
                </a:solidFill>
                <a:latin typeface="Helvetica Neue"/>
              </a:rPr>
              <a:t>Three questions that a single accuracy number runs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88720"/>
            <a:ext cx="10984687" cy="9525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" y="1188720"/>
            <a:ext cx="1005840" cy="2032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408176"/>
            <a:ext cx="274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500" i="0">
                <a:solidFill>
                  <a:srgbClr val="3F8F5B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389888"/>
            <a:ext cx="37457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350" i="0">
                <a:solidFill>
                  <a:srgbClr val="0D1418"/>
                </a:solidFill>
                <a:latin typeface="Helvetica Neue"/>
              </a:rPr>
              <a:t>Does the codec destroy the information?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0737" y="1389888"/>
            <a:ext cx="2114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350" i="0">
                <a:solidFill>
                  <a:srgbClr val="3F8F5B"/>
                </a:solidFill>
                <a:latin typeface="Helvetica Neue"/>
              </a:rPr>
              <a:t>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664208"/>
            <a:ext cx="5767257" cy="4553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b="0" sz="1150" i="0">
                <a:solidFill>
                  <a:srgbClr val="5A6B74"/>
                </a:solidFill>
                <a:latin typeface="Helvetica Neue"/>
              </a:rPr>
              <a:t>Matched-format training recovers 38.6 points and lands within 0.003 of the clean score.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450591"/>
            <a:ext cx="274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500" i="0">
                <a:solidFill>
                  <a:srgbClr val="C4462E"/>
                </a:solidFill>
                <a:latin typeface="Helvetica Neue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432303"/>
            <a:ext cx="37457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350" i="0">
                <a:solidFill>
                  <a:srgbClr val="0D1418"/>
                </a:solidFill>
                <a:latin typeface="Helvetica Neue"/>
              </a:rPr>
              <a:t>Does the codec break deployed models?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0737" y="2432303"/>
            <a:ext cx="2114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350" i="0">
                <a:solidFill>
                  <a:srgbClr val="C4462E"/>
                </a:solidFill>
                <a:latin typeface="Helvetica Neue"/>
              </a:rPr>
              <a:t>Severely.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706624"/>
            <a:ext cx="5767257" cy="3511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b="0" sz="1150" i="0">
                <a:solidFill>
                  <a:srgbClr val="5A6B74"/>
                </a:solidFill>
                <a:latin typeface="Helvetica Neue"/>
              </a:rPr>
              <a:t>Provided they consume descriptor magnitudes and were fitted on clean audio. And the aggregate conceals </a:t>
            </a:r>
            <a:r>
              <a:rPr b="0" i="1" sz="1150">
                <a:solidFill>
                  <a:srgbClr val="5A6B74"/>
                </a:solidFill>
                <a:latin typeface="Helvetica Neue"/>
              </a:rPr>
              <a:t>how</a:t>
            </a:r>
            <a:r>
              <a:rPr b="0" sz="1150" i="0">
                <a:solidFill>
                  <a:srgbClr val="5A6B74"/>
                </a:solidFill>
                <a:latin typeface="Helvetica Neue"/>
              </a:rPr>
              <a:t>: the network silently becomes a three-way classifier.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493007"/>
            <a:ext cx="274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500" i="0">
                <a:solidFill>
                  <a:srgbClr val="B07A1E"/>
                </a:solidFill>
                <a:latin typeface="Helvetica Neue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474719"/>
            <a:ext cx="37457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350" i="0">
                <a:solidFill>
                  <a:srgbClr val="0D1418"/>
                </a:solidFill>
                <a:latin typeface="Helvetica Neue"/>
              </a:rPr>
              <a:t>Does it change what the model learns?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0737" y="3474719"/>
            <a:ext cx="2114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350" i="0">
                <a:solidFill>
                  <a:srgbClr val="B07A1E"/>
                </a:solidFill>
                <a:latin typeface="Helvetica Neue"/>
              </a:rPr>
              <a:t>Yes, but less.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3749039"/>
            <a:ext cx="5767257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b="0" sz="1150" i="0">
                <a:solidFill>
                  <a:srgbClr val="5A6B74"/>
                </a:solidFill>
                <a:latin typeface="Helvetica Neue"/>
              </a:rPr>
              <a:t>The root test survives both codecs. MP3 leaves two further levels untouched, AAC none, and everything below is reorganised.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4535423"/>
            <a:ext cx="274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500" i="0">
                <a:solidFill>
                  <a:srgbClr val="2E6F9E"/>
                </a:solidFill>
                <a:latin typeface="Helvetica Ne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517136"/>
            <a:ext cx="37457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350" i="0">
                <a:solidFill>
                  <a:srgbClr val="0D1418"/>
                </a:solidFill>
                <a:latin typeface="Helvetica Neue"/>
              </a:rPr>
              <a:t>Does that reorganisation cost anything?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0737" y="4517136"/>
            <a:ext cx="2114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350" i="0">
                <a:solidFill>
                  <a:srgbClr val="2E6F9E"/>
                </a:solidFill>
                <a:latin typeface="Helvetica Neue"/>
              </a:rPr>
              <a:t>No.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4791455"/>
            <a:ext cx="5767257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b="0" sz="1150" i="0">
                <a:solidFill>
                  <a:srgbClr val="5A6B74"/>
                </a:solidFill>
                <a:latin typeface="Helvetica Neue"/>
              </a:rPr>
              <a:t>Structural and informational agreement come apart. The AAC tree shares almost no structure below depth 2 and still resolves 0.859 bits against 0.875 — one question substituted for another of equal value.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74622" y="1408176"/>
            <a:ext cx="4613568" cy="2724912"/>
          </a:xfrm>
          <a:prstGeom prst="roundRect">
            <a:avLst>
              <a:gd name="adj" fmla="val 3500"/>
            </a:avLst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74622" y="1408176"/>
            <a:ext cx="45720" cy="2724912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0654" y="1554480"/>
            <a:ext cx="4138080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b="0" sz="1000" i="0">
                <a:solidFill>
                  <a:srgbClr val="3F8F5B"/>
                </a:solidFill>
                <a:latin typeface="Helvetica Neue"/>
              </a:rPr>
              <a:t>THE TRANSPORTABLE RESULT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b="0" sz="1250" i="0">
                <a:solidFill>
                  <a:srgbClr val="0D1418"/>
                </a:solidFill>
                <a:latin typeface="Helvetica Neue"/>
              </a:rPr>
              <a:t>An informationally empty container re-wrap already displaces </a:t>
            </a:r>
            <a:r>
              <a:rPr b="1" sz="1250" i="0">
                <a:solidFill>
                  <a:srgbClr val="0D1418"/>
                </a:solidFill>
                <a:latin typeface="Helvetica Neue"/>
              </a:rPr>
              <a:t>8.35 of a tree's 25</a:t>
            </a:r>
            <a:r>
              <a:rPr b="0" sz="1250" i="0">
                <a:solidFill>
                  <a:srgbClr val="0D1418"/>
                </a:solidFill>
                <a:latin typeface="Helvetica Neue"/>
              </a:rPr>
              <a:t> most important descriptors. Only the gap beyond that floor belongs to the codec: </a:t>
            </a:r>
            <a:r>
              <a:rPr b="1" sz="1250" i="0">
                <a:solidFill>
                  <a:srgbClr val="0D1418"/>
                </a:solidFill>
                <a:latin typeface="Helvetica Neue"/>
              </a:rPr>
              <a:t>3.25</a:t>
            </a:r>
            <a:r>
              <a:rPr b="0" sz="1250" i="0">
                <a:solidFill>
                  <a:srgbClr val="0D1418"/>
                </a:solidFill>
                <a:latin typeface="Helvetica Neue"/>
              </a:rPr>
              <a:t> for MP3 and </a:t>
            </a:r>
            <a:r>
              <a:rPr b="1" sz="1250" i="0">
                <a:solidFill>
                  <a:srgbClr val="0D1418"/>
                </a:solidFill>
                <a:latin typeface="Helvetica Neue"/>
              </a:rPr>
              <a:t>5.15</a:t>
            </a:r>
            <a:r>
              <a:rPr b="0" sz="1250" i="0">
                <a:solidFill>
                  <a:srgbClr val="0D1418"/>
                </a:solidFill>
                <a:latin typeface="Helvetica Neue"/>
              </a:rPr>
              <a:t> for AAC.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b="0" sz="1150" i="0">
                <a:solidFill>
                  <a:srgbClr val="243238"/>
                </a:solidFill>
                <a:latin typeface="Helvetica Neue"/>
              </a:rPr>
              <a:t>We would ask reviewers to require, alongside any claim that an intervention changed a model's explanation, a measurement of the divergence induced by an intervention that carries </a:t>
            </a:r>
            <a:r>
              <a:rPr b="1" sz="1150" i="0">
                <a:solidFill>
                  <a:srgbClr val="0D1418"/>
                </a:solidFill>
                <a:latin typeface="Helvetica Neue"/>
              </a:rPr>
              <a:t>no information</a:t>
            </a:r>
            <a:r>
              <a:rPr b="0" sz="1150" i="0">
                <a:solidFill>
                  <a:srgbClr val="243238"/>
                </a:solidFill>
                <a:latin typeface="Helvetica Neue"/>
              </a:rPr>
              <a:t>. With it, our own claim shrinks by a factor of two and a half — and becomes defensible.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4622" y="4297680"/>
            <a:ext cx="46135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00" i="0" spc="120">
                <a:solidFill>
                  <a:srgbClr val="5A6B74"/>
                </a:solidFill>
                <a:latin typeface="Helvetica Neue"/>
              </a:rPr>
              <a:t>LIMITATIONS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4622" y="4572000"/>
            <a:ext cx="4613568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756">
                <a:solidFill>
                  <a:srgbClr val="5A6B74"/>
                </a:solidFill>
                <a:latin typeface="Helvetica Neue"/>
              </a:rPr>
              <a:t>•  </a:t>
            </a:r>
            <a:r>
              <a:rPr b="0" sz="1050" i="0">
                <a:solidFill>
                  <a:srgbClr val="243238"/>
                </a:solidFill>
                <a:latin typeface="Helvetica Neue"/>
              </a:rPr>
              <a:t>Acted rather than spontaneous emotion, on 12 fixed sentences. Absolute accuracies do not transfer.</a:t>
            </a:r>
          </a:p>
          <a:p>
            <a:pPr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756">
                <a:solidFill>
                  <a:srgbClr val="5A6B74"/>
                </a:solidFill>
                <a:latin typeface="Helvetica Neue"/>
              </a:rPr>
              <a:t>•  </a:t>
            </a:r>
            <a:r>
              <a:rPr b="0" sz="1050" i="0">
                <a:solidFill>
                  <a:srgbClr val="243238"/>
                </a:solidFill>
                <a:latin typeface="Helvetica Neue"/>
              </a:rPr>
              <a:t>One deterministic split, not repeated CV. The codec effects at issue are 10–38 points and are not at risk from split variance.</a:t>
            </a:r>
          </a:p>
          <a:p>
            <a:pPr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756">
                <a:solidFill>
                  <a:srgbClr val="5A6B74"/>
                </a:solidFill>
                <a:latin typeface="Helvetica Neue"/>
              </a:rPr>
              <a:t>•  </a:t>
            </a:r>
            <a:r>
              <a:rPr b="0" sz="1050" i="0">
                <a:solidFill>
                  <a:srgbClr val="243238"/>
                </a:solidFill>
                <a:latin typeface="Helvetica Neue"/>
              </a:rPr>
              <a:t>Two codecs at one bitrate; 64 kbit/s is aggressive for MP3.</a:t>
            </a:r>
          </a:p>
          <a:p>
            <a:pPr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756">
                <a:solidFill>
                  <a:srgbClr val="5A6B74"/>
                </a:solidFill>
                <a:latin typeface="Helvetica Neue"/>
              </a:rPr>
              <a:t>•  </a:t>
            </a:r>
            <a:r>
              <a:rPr b="0" sz="1050" i="0">
                <a:solidFill>
                  <a:srgbClr val="243238"/>
                </a:solidFill>
                <a:latin typeface="Helvetica Neue"/>
              </a:rPr>
              <a:t>Summary statistics discard time, so nothing here localises </a:t>
            </a:r>
            <a:r>
              <a:rPr b="0" i="1" sz="1050">
                <a:solidFill>
                  <a:srgbClr val="243238"/>
                </a:solidFill>
                <a:latin typeface="Helvetica Neue"/>
              </a:rPr>
              <a:t>when</a:t>
            </a:r>
            <a:r>
              <a:rPr b="0" sz="1050" i="0">
                <a:solidFill>
                  <a:srgbClr val="243238"/>
                </a:solidFill>
                <a:latin typeface="Helvetica Neue"/>
              </a:rPr>
              <a:t> in a clip the evidence sits.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" y="5440954"/>
            <a:ext cx="6041577" cy="776965"/>
          </a:xfrm>
          <a:prstGeom prst="roundRect">
            <a:avLst>
              <a:gd name="adj" fmla="val 3500"/>
            </a:avLst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" y="5440954"/>
            <a:ext cx="50292" cy="776965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5440954"/>
            <a:ext cx="5538657" cy="7769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1" sz="1200" i="0">
                <a:solidFill>
                  <a:srgbClr val="0D1418"/>
                </a:solidFill>
                <a:latin typeface="Helvetica Neue"/>
              </a:rPr>
              <a:t>Future work.</a:t>
            </a:r>
            <a:r>
              <a:rPr b="0" sz="1200" i="0">
                <a:solidFill>
                  <a:srgbClr val="0D1418"/>
                </a:solidFill>
                <a:latin typeface="Helvetica Neue"/>
              </a:rPr>
              <a:t> A bit-exact container null  ·  null calibration extended to SHAP and IG rankings under refitting  ·  a bitrate ladder including Opus, turning the two-point comparison into a dose–response curve.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" y="6236208"/>
            <a:ext cx="10984687" cy="6350"/>
          </a:xfrm>
          <a:prstGeom prst="rect">
            <a:avLst/>
          </a:prstGeom>
          <a:solidFill>
            <a:srgbClr val="E7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6382512"/>
            <a:ext cx="79089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900" i="0">
                <a:solidFill>
                  <a:srgbClr val="8C9BA2"/>
                </a:solidFill>
                <a:latin typeface="Helvetica Neue"/>
              </a:rPr>
              <a:t>Null-Calibrated Feature Attribution in Explainable SER  ·  CREMA-D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12478" y="6382512"/>
            <a:ext cx="30757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sz="900" i="0">
                <a:solidFill>
                  <a:srgbClr val="8C9BA2"/>
                </a:solidFill>
                <a:latin typeface="Helvetica Neue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